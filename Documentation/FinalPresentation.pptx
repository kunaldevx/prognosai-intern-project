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16"/>
  </p:notesMasterIdLst>
  <p:sldIdLst>
    <p:sldId id="256" r:id="rId2"/>
    <p:sldId id="257" r:id="rId3"/>
    <p:sldId id="258" r:id="rId4"/>
    <p:sldId id="259" r:id="rId5"/>
    <p:sldId id="260" r:id="rId6"/>
    <p:sldId id="261" r:id="rId7"/>
    <p:sldId id="262" r:id="rId8"/>
    <p:sldId id="271" r:id="rId9"/>
    <p:sldId id="265" r:id="rId10"/>
    <p:sldId id="270" r:id="rId11"/>
    <p:sldId id="266" r:id="rId12"/>
    <p:sldId id="267" r:id="rId13"/>
    <p:sldId id="268" r:id="rId14"/>
    <p:sldId id="269" r:id="rId15"/>
  </p:sldIdLst>
  <p:sldSz cx="9144000" cy="5143500" type="screen16x9"/>
  <p:notesSz cx="6858000" cy="9144000"/>
  <p:embeddedFontLst>
    <p:embeddedFont>
      <p:font typeface="Abhaya Libre" panose="020B0604020202020204" charset="0"/>
      <p:regular r:id="rId17"/>
      <p:bold r:id="rId18"/>
    </p:embeddedFont>
    <p:embeddedFont>
      <p:font typeface="Actor" panose="020B0604020202020204"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35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860571d82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g3860571d82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860571d826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g3860571d826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860571d826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g3860571d826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860571d826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g3860571d826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860571d826_1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860571d826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5000"/>
          </a:blip>
          <a:srcRect l="4162" t="14659" r="7458" b="10276"/>
          <a:stretch/>
        </p:blipFill>
        <p:spPr>
          <a:xfrm>
            <a:off x="-26999" y="0"/>
            <a:ext cx="9197998" cy="5211601"/>
          </a:xfrm>
          <a:prstGeom prst="rect">
            <a:avLst/>
          </a:prstGeom>
          <a:noFill/>
          <a:ln>
            <a:noFill/>
          </a:ln>
        </p:spPr>
      </p:pic>
      <p:grpSp>
        <p:nvGrpSpPr>
          <p:cNvPr id="10" name="Google Shape;10;p2"/>
          <p:cNvGrpSpPr/>
          <p:nvPr/>
        </p:nvGrpSpPr>
        <p:grpSpPr>
          <a:xfrm>
            <a:off x="-3021191" y="-1996329"/>
            <a:ext cx="15472107" cy="8830381"/>
            <a:chOff x="-3021191" y="-1996329"/>
            <a:chExt cx="15472107" cy="8830381"/>
          </a:xfrm>
        </p:grpSpPr>
        <p:sp>
          <p:nvSpPr>
            <p:cNvPr id="11" name="Google Shape;11;p2"/>
            <p:cNvSpPr/>
            <p:nvPr/>
          </p:nvSpPr>
          <p:spPr>
            <a:xfrm rot="-2699788">
              <a:off x="-1577264" y="-1176259"/>
              <a:ext cx="3435478" cy="2694077"/>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12" name="Google Shape;12;p2"/>
            <p:cNvSpPr/>
            <p:nvPr/>
          </p:nvSpPr>
          <p:spPr>
            <a:xfrm rot="-2699788">
              <a:off x="-2571789" y="2979116"/>
              <a:ext cx="3435478" cy="2694077"/>
            </a:xfrm>
            <a:prstGeom prst="roundRect">
              <a:avLst>
                <a:gd name="adj" fmla="val 10196"/>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13" name="Google Shape;13;p2"/>
            <p:cNvSpPr/>
            <p:nvPr/>
          </p:nvSpPr>
          <p:spPr>
            <a:xfrm rot="8100212">
              <a:off x="7584961" y="3319904"/>
              <a:ext cx="3435478" cy="2694077"/>
            </a:xfrm>
            <a:prstGeom prst="rect">
              <a:avLst/>
            </a:prstGeom>
            <a:solidFill>
              <a:srgbClr val="D8AB8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14" name="Google Shape;14;p2"/>
            <p:cNvSpPr/>
            <p:nvPr/>
          </p:nvSpPr>
          <p:spPr>
            <a:xfrm rot="8100212">
              <a:off x="8566036" y="-807546"/>
              <a:ext cx="3435478" cy="2694077"/>
            </a:xfrm>
            <a:prstGeom prst="roundRect">
              <a:avLst>
                <a:gd name="adj" fmla="val 10196"/>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grpSp>
        <p:nvGrpSpPr>
          <p:cNvPr id="15" name="Google Shape;15;p2"/>
          <p:cNvGrpSpPr/>
          <p:nvPr/>
        </p:nvGrpSpPr>
        <p:grpSpPr>
          <a:xfrm>
            <a:off x="-3088675" y="-2537727"/>
            <a:ext cx="15343101" cy="9905801"/>
            <a:chOff x="-3088675" y="-2537727"/>
            <a:chExt cx="15343101" cy="9905801"/>
          </a:xfrm>
        </p:grpSpPr>
        <p:sp>
          <p:nvSpPr>
            <p:cNvPr id="16" name="Google Shape;16;p2"/>
            <p:cNvSpPr/>
            <p:nvPr/>
          </p:nvSpPr>
          <p:spPr>
            <a:xfrm rot="-2700000">
              <a:off x="7909" y="-2891521"/>
              <a:ext cx="846831"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17" name="Google Shape;17;p2"/>
            <p:cNvSpPr/>
            <p:nvPr/>
          </p:nvSpPr>
          <p:spPr>
            <a:xfrm rot="-2700000">
              <a:off x="-1635741" y="-2823821"/>
              <a:ext cx="846831"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18" name="Google Shape;18;p2"/>
            <p:cNvSpPr/>
            <p:nvPr/>
          </p:nvSpPr>
          <p:spPr>
            <a:xfrm rot="-2700000">
              <a:off x="-210502" y="1713955"/>
              <a:ext cx="588454"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19" name="Google Shape;19;p2"/>
            <p:cNvSpPr/>
            <p:nvPr/>
          </p:nvSpPr>
          <p:spPr>
            <a:xfrm rot="8100000">
              <a:off x="8289410" y="3261580"/>
              <a:ext cx="846831"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20" name="Google Shape;20;p2"/>
            <p:cNvSpPr/>
            <p:nvPr/>
          </p:nvSpPr>
          <p:spPr>
            <a:xfrm rot="8100000">
              <a:off x="9954660" y="3109505"/>
              <a:ext cx="846831"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21" name="Google Shape;21;p2"/>
            <p:cNvSpPr/>
            <p:nvPr/>
          </p:nvSpPr>
          <p:spPr>
            <a:xfrm rot="8100000">
              <a:off x="9093047" y="-1336521"/>
              <a:ext cx="588454"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sp>
        <p:nvSpPr>
          <p:cNvPr id="22" name="Google Shape;22;p2"/>
          <p:cNvSpPr txBox="1">
            <a:spLocks noGrp="1"/>
          </p:cNvSpPr>
          <p:nvPr>
            <p:ph type="ctrTitle"/>
          </p:nvPr>
        </p:nvSpPr>
        <p:spPr>
          <a:xfrm>
            <a:off x="812250" y="1854375"/>
            <a:ext cx="7519500" cy="1285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4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23" name="Google Shape;23;p2"/>
          <p:cNvSpPr txBox="1">
            <a:spLocks noGrp="1"/>
          </p:cNvSpPr>
          <p:nvPr>
            <p:ph type="subTitle" idx="1"/>
          </p:nvPr>
        </p:nvSpPr>
        <p:spPr>
          <a:xfrm>
            <a:off x="2307675" y="3139572"/>
            <a:ext cx="4528800" cy="4758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4"/>
        <p:cNvGrpSpPr/>
        <p:nvPr/>
      </p:nvGrpSpPr>
      <p:grpSpPr>
        <a:xfrm>
          <a:off x="0" y="0"/>
          <a:ext cx="0" cy="0"/>
          <a:chOff x="0" y="0"/>
          <a:chExt cx="0" cy="0"/>
        </a:xfrm>
      </p:grpSpPr>
      <p:pic>
        <p:nvPicPr>
          <p:cNvPr id="25" name="Google Shape;25;p3"/>
          <p:cNvPicPr preferRelativeResize="0"/>
          <p:nvPr/>
        </p:nvPicPr>
        <p:blipFill rotWithShape="1">
          <a:blip r:embed="rId2">
            <a:alphaModFix amt="5000"/>
          </a:blip>
          <a:srcRect l="4162" t="14659" r="7458" b="10276"/>
          <a:stretch/>
        </p:blipFill>
        <p:spPr>
          <a:xfrm>
            <a:off x="-26999" y="0"/>
            <a:ext cx="9197998" cy="5211601"/>
          </a:xfrm>
          <a:prstGeom prst="rect">
            <a:avLst/>
          </a:prstGeom>
          <a:noFill/>
          <a:ln>
            <a:noFill/>
          </a:ln>
        </p:spPr>
      </p:pic>
      <p:grpSp>
        <p:nvGrpSpPr>
          <p:cNvPr id="26" name="Google Shape;26;p3"/>
          <p:cNvGrpSpPr/>
          <p:nvPr/>
        </p:nvGrpSpPr>
        <p:grpSpPr>
          <a:xfrm>
            <a:off x="-1699574" y="-2377329"/>
            <a:ext cx="14457915" cy="9485478"/>
            <a:chOff x="-1699574" y="-2377329"/>
            <a:chExt cx="14457915" cy="9485478"/>
          </a:xfrm>
        </p:grpSpPr>
        <p:sp>
          <p:nvSpPr>
            <p:cNvPr id="27" name="Google Shape;27;p3"/>
            <p:cNvSpPr/>
            <p:nvPr/>
          </p:nvSpPr>
          <p:spPr>
            <a:xfrm rot="2699788" flipH="1">
              <a:off x="7753311" y="-1557259"/>
              <a:ext cx="3435478" cy="2694077"/>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28" name="Google Shape;28;p3"/>
            <p:cNvSpPr/>
            <p:nvPr/>
          </p:nvSpPr>
          <p:spPr>
            <a:xfrm rot="2699788" flipH="1">
              <a:off x="8873461" y="3256966"/>
              <a:ext cx="3435478" cy="2694077"/>
            </a:xfrm>
            <a:prstGeom prst="roundRect">
              <a:avLst>
                <a:gd name="adj" fmla="val 10196"/>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29" name="Google Shape;29;p3"/>
            <p:cNvSpPr/>
            <p:nvPr/>
          </p:nvSpPr>
          <p:spPr>
            <a:xfrm rot="-2700000">
              <a:off x="-1030334" y="4124760"/>
              <a:ext cx="1934220" cy="2694077"/>
            </a:xfrm>
            <a:prstGeom prst="roundRect">
              <a:avLst>
                <a:gd name="adj" fmla="val 10196"/>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grpSp>
        <p:nvGrpSpPr>
          <p:cNvPr id="30" name="Google Shape;30;p3"/>
          <p:cNvGrpSpPr/>
          <p:nvPr/>
        </p:nvGrpSpPr>
        <p:grpSpPr>
          <a:xfrm>
            <a:off x="-2704376" y="-3213202"/>
            <a:ext cx="15200025" cy="11148401"/>
            <a:chOff x="-2704376" y="-3213202"/>
            <a:chExt cx="15200025" cy="11148401"/>
          </a:xfrm>
        </p:grpSpPr>
        <p:sp>
          <p:nvSpPr>
            <p:cNvPr id="31" name="Google Shape;31;p3"/>
            <p:cNvSpPr/>
            <p:nvPr/>
          </p:nvSpPr>
          <p:spPr>
            <a:xfrm rot="2700000" flipH="1">
              <a:off x="9551309" y="-3566996"/>
              <a:ext cx="846831"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32" name="Google Shape;32;p3"/>
            <p:cNvSpPr/>
            <p:nvPr/>
          </p:nvSpPr>
          <p:spPr>
            <a:xfrm rot="2700000" flipH="1">
              <a:off x="10195884" y="-2149671"/>
              <a:ext cx="846831"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33" name="Google Shape;33;p3"/>
            <p:cNvSpPr/>
            <p:nvPr/>
          </p:nvSpPr>
          <p:spPr>
            <a:xfrm rot="2700000" flipH="1">
              <a:off x="9680497" y="1713955"/>
              <a:ext cx="588454"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34" name="Google Shape;34;p3"/>
            <p:cNvSpPr/>
            <p:nvPr/>
          </p:nvSpPr>
          <p:spPr>
            <a:xfrm rot="2700000" flipH="1">
              <a:off x="-1213603" y="3920055"/>
              <a:ext cx="588454"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sp>
        <p:nvSpPr>
          <p:cNvPr id="35" name="Google Shape;35;p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6" name="Google Shape;36;p3"/>
          <p:cNvSpPr txBox="1">
            <a:spLocks noGrp="1"/>
          </p:cNvSpPr>
          <p:nvPr>
            <p:ph type="subTitle" idx="1"/>
          </p:nvPr>
        </p:nvSpPr>
        <p:spPr>
          <a:xfrm>
            <a:off x="4731475" y="1456100"/>
            <a:ext cx="3699300" cy="2909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 name="Google Shape;37;p3"/>
          <p:cNvSpPr txBox="1">
            <a:spLocks noGrp="1"/>
          </p:cNvSpPr>
          <p:nvPr>
            <p:ph type="subTitle" idx="2"/>
          </p:nvPr>
        </p:nvSpPr>
        <p:spPr>
          <a:xfrm>
            <a:off x="720000" y="1456100"/>
            <a:ext cx="3699300" cy="2909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pic>
        <p:nvPicPr>
          <p:cNvPr id="39" name="Google Shape;39;p4"/>
          <p:cNvPicPr preferRelativeResize="0"/>
          <p:nvPr/>
        </p:nvPicPr>
        <p:blipFill rotWithShape="1">
          <a:blip r:embed="rId2">
            <a:alphaModFix amt="5000"/>
          </a:blip>
          <a:srcRect l="4162" t="14659" r="7458" b="10276"/>
          <a:stretch/>
        </p:blipFill>
        <p:spPr>
          <a:xfrm>
            <a:off x="-26999" y="0"/>
            <a:ext cx="9197998" cy="5211601"/>
          </a:xfrm>
          <a:prstGeom prst="rect">
            <a:avLst/>
          </a:prstGeom>
          <a:noFill/>
          <a:ln>
            <a:noFill/>
          </a:ln>
        </p:spPr>
      </p:pic>
      <p:grpSp>
        <p:nvGrpSpPr>
          <p:cNvPr id="40" name="Google Shape;40;p4"/>
          <p:cNvGrpSpPr/>
          <p:nvPr/>
        </p:nvGrpSpPr>
        <p:grpSpPr>
          <a:xfrm>
            <a:off x="-2210709" y="-1971866"/>
            <a:ext cx="14434900" cy="9812700"/>
            <a:chOff x="-2210709" y="-1971866"/>
            <a:chExt cx="14434900" cy="9812700"/>
          </a:xfrm>
        </p:grpSpPr>
        <p:sp>
          <p:nvSpPr>
            <p:cNvPr id="41" name="Google Shape;41;p4"/>
            <p:cNvSpPr/>
            <p:nvPr/>
          </p:nvSpPr>
          <p:spPr>
            <a:xfrm rot="-8099788">
              <a:off x="-1761339" y="4326654"/>
              <a:ext cx="3435478" cy="269407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42" name="Google Shape;42;p4"/>
            <p:cNvSpPr/>
            <p:nvPr/>
          </p:nvSpPr>
          <p:spPr>
            <a:xfrm rot="8100212">
              <a:off x="8339311" y="-1151796"/>
              <a:ext cx="3435478" cy="2694077"/>
            </a:xfrm>
            <a:prstGeom prst="roundRect">
              <a:avLst>
                <a:gd name="adj" fmla="val 10196"/>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grpSp>
        <p:nvGrpSpPr>
          <p:cNvPr id="43" name="Google Shape;43;p4"/>
          <p:cNvGrpSpPr/>
          <p:nvPr/>
        </p:nvGrpSpPr>
        <p:grpSpPr>
          <a:xfrm>
            <a:off x="-125836" y="-2860532"/>
            <a:ext cx="12257560" cy="10892806"/>
            <a:chOff x="-125836" y="-2860532"/>
            <a:chExt cx="12257560" cy="10892806"/>
          </a:xfrm>
        </p:grpSpPr>
        <p:sp>
          <p:nvSpPr>
            <p:cNvPr id="44" name="Google Shape;44;p4"/>
            <p:cNvSpPr/>
            <p:nvPr/>
          </p:nvSpPr>
          <p:spPr>
            <a:xfrm rot="8100000">
              <a:off x="7225122" y="-2997421"/>
              <a:ext cx="588454"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45" name="Google Shape;45;p4"/>
            <p:cNvSpPr/>
            <p:nvPr/>
          </p:nvSpPr>
          <p:spPr>
            <a:xfrm rot="8100000">
              <a:off x="9633635" y="3925780"/>
              <a:ext cx="846831"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46" name="Google Shape;46;p4"/>
            <p:cNvSpPr/>
            <p:nvPr/>
          </p:nvSpPr>
          <p:spPr>
            <a:xfrm rot="-8100000">
              <a:off x="1364937" y="-3305676"/>
              <a:ext cx="588454"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47" name="Google Shape;47;p4"/>
            <p:cNvSpPr/>
            <p:nvPr/>
          </p:nvSpPr>
          <p:spPr>
            <a:xfrm rot="8100000">
              <a:off x="10052497" y="2598429"/>
              <a:ext cx="588454" cy="4460288"/>
            </a:xfrm>
            <a:prstGeom prst="roundRect">
              <a:avLst>
                <a:gd name="adj" fmla="val 19213"/>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sp>
        <p:nvSpPr>
          <p:cNvPr id="48" name="Google Shape;48;p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9" name="Google Shape;49;p4"/>
          <p:cNvSpPr txBox="1">
            <a:spLocks noGrp="1"/>
          </p:cNvSpPr>
          <p:nvPr>
            <p:ph type="subTitle" idx="1"/>
          </p:nvPr>
        </p:nvSpPr>
        <p:spPr>
          <a:xfrm>
            <a:off x="5055284" y="2990374"/>
            <a:ext cx="2505600" cy="572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0" name="Google Shape;50;p4"/>
          <p:cNvSpPr txBox="1">
            <a:spLocks noGrp="1"/>
          </p:cNvSpPr>
          <p:nvPr>
            <p:ph type="subTitle" idx="2"/>
          </p:nvPr>
        </p:nvSpPr>
        <p:spPr>
          <a:xfrm>
            <a:off x="1583300" y="2990374"/>
            <a:ext cx="2505600" cy="5727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1" name="Google Shape;51;p4"/>
          <p:cNvSpPr txBox="1">
            <a:spLocks noGrp="1"/>
          </p:cNvSpPr>
          <p:nvPr>
            <p:ph type="subTitle" idx="3"/>
          </p:nvPr>
        </p:nvSpPr>
        <p:spPr>
          <a:xfrm>
            <a:off x="5055275" y="2493875"/>
            <a:ext cx="2505600" cy="572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Abhaya Libre"/>
              <a:buNone/>
              <a:defRPr sz="2400" b="1">
                <a:solidFill>
                  <a:schemeClr val="dk1"/>
                </a:solidFill>
                <a:latin typeface="Abhaya Libre"/>
                <a:ea typeface="Abhaya Libre"/>
                <a:cs typeface="Abhaya Libre"/>
                <a:sym typeface="Abhaya Libre"/>
              </a:defRPr>
            </a:lvl1pPr>
            <a:lvl2pPr lvl="1"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2pPr>
            <a:lvl3pPr lvl="2"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3pPr>
            <a:lvl4pPr lvl="3"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4pPr>
            <a:lvl5pPr lvl="4"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5pPr>
            <a:lvl6pPr lvl="5"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6pPr>
            <a:lvl7pPr lvl="6"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7pPr>
            <a:lvl8pPr lvl="7"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8pPr>
            <a:lvl9pPr lvl="8"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9pPr>
          </a:lstStyle>
          <a:p>
            <a:endParaRPr/>
          </a:p>
        </p:txBody>
      </p:sp>
      <p:sp>
        <p:nvSpPr>
          <p:cNvPr id="52" name="Google Shape;52;p4"/>
          <p:cNvSpPr txBox="1">
            <a:spLocks noGrp="1"/>
          </p:cNvSpPr>
          <p:nvPr>
            <p:ph type="subTitle" idx="4"/>
          </p:nvPr>
        </p:nvSpPr>
        <p:spPr>
          <a:xfrm>
            <a:off x="1583075" y="2493875"/>
            <a:ext cx="2505600" cy="572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Abhaya Libre"/>
              <a:buNone/>
              <a:defRPr sz="2400" b="1">
                <a:solidFill>
                  <a:schemeClr val="dk1"/>
                </a:solidFill>
                <a:latin typeface="Abhaya Libre"/>
                <a:ea typeface="Abhaya Libre"/>
                <a:cs typeface="Abhaya Libre"/>
                <a:sym typeface="Abhaya Libre"/>
              </a:defRPr>
            </a:lvl1pPr>
            <a:lvl2pPr lvl="1"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2pPr>
            <a:lvl3pPr lvl="2"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3pPr>
            <a:lvl4pPr lvl="3"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4pPr>
            <a:lvl5pPr lvl="4"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5pPr>
            <a:lvl6pPr lvl="5"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6pPr>
            <a:lvl7pPr lvl="6"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7pPr>
            <a:lvl8pPr lvl="7"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8pPr>
            <a:lvl9pPr lvl="8" algn="ctr">
              <a:lnSpc>
                <a:spcPct val="100000"/>
              </a:lnSpc>
              <a:spcBef>
                <a:spcPts val="0"/>
              </a:spcBef>
              <a:spcAft>
                <a:spcPts val="0"/>
              </a:spcAft>
              <a:buSzPts val="2400"/>
              <a:buFont typeface="Abhaya Libre"/>
              <a:buNone/>
              <a:defRPr sz="2400" b="1">
                <a:latin typeface="Abhaya Libre"/>
                <a:ea typeface="Abhaya Libre"/>
                <a:cs typeface="Abhaya Libre"/>
                <a:sym typeface="Abhaya Libr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3"/>
        <p:cNvGrpSpPr/>
        <p:nvPr/>
      </p:nvGrpSpPr>
      <p:grpSpPr>
        <a:xfrm>
          <a:off x="0" y="0"/>
          <a:ext cx="0" cy="0"/>
          <a:chOff x="0" y="0"/>
          <a:chExt cx="0" cy="0"/>
        </a:xfrm>
      </p:grpSpPr>
      <p:pic>
        <p:nvPicPr>
          <p:cNvPr id="54" name="Google Shape;54;p5"/>
          <p:cNvPicPr preferRelativeResize="0"/>
          <p:nvPr/>
        </p:nvPicPr>
        <p:blipFill rotWithShape="1">
          <a:blip r:embed="rId2">
            <a:alphaModFix amt="5000"/>
          </a:blip>
          <a:srcRect l="4162" t="14659" r="7458" b="10276"/>
          <a:stretch/>
        </p:blipFill>
        <p:spPr>
          <a:xfrm>
            <a:off x="-26999" y="0"/>
            <a:ext cx="9197998" cy="5211601"/>
          </a:xfrm>
          <a:prstGeom prst="rect">
            <a:avLst/>
          </a:prstGeom>
          <a:noFill/>
          <a:ln>
            <a:noFill/>
          </a:ln>
        </p:spPr>
      </p:pic>
      <p:grpSp>
        <p:nvGrpSpPr>
          <p:cNvPr id="55" name="Google Shape;55;p5"/>
          <p:cNvGrpSpPr/>
          <p:nvPr/>
        </p:nvGrpSpPr>
        <p:grpSpPr>
          <a:xfrm rot="10800000" flipH="1">
            <a:off x="-3021191" y="-2003703"/>
            <a:ext cx="15472107" cy="8830381"/>
            <a:chOff x="-3021191" y="-1996329"/>
            <a:chExt cx="15472107" cy="8830381"/>
          </a:xfrm>
        </p:grpSpPr>
        <p:sp>
          <p:nvSpPr>
            <p:cNvPr id="56" name="Google Shape;56;p5"/>
            <p:cNvSpPr/>
            <p:nvPr/>
          </p:nvSpPr>
          <p:spPr>
            <a:xfrm rot="-2699788">
              <a:off x="-1577264" y="-1176259"/>
              <a:ext cx="3435478" cy="2694077"/>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57" name="Google Shape;57;p5"/>
            <p:cNvSpPr/>
            <p:nvPr/>
          </p:nvSpPr>
          <p:spPr>
            <a:xfrm rot="-2699788">
              <a:off x="-2571789" y="2979116"/>
              <a:ext cx="3435478" cy="2694077"/>
            </a:xfrm>
            <a:prstGeom prst="roundRect">
              <a:avLst>
                <a:gd name="adj" fmla="val 10196"/>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58" name="Google Shape;58;p5"/>
            <p:cNvSpPr/>
            <p:nvPr/>
          </p:nvSpPr>
          <p:spPr>
            <a:xfrm rot="8100212">
              <a:off x="7584961" y="3319904"/>
              <a:ext cx="3435478" cy="2694077"/>
            </a:xfrm>
            <a:prstGeom prst="rect">
              <a:avLst/>
            </a:prstGeom>
            <a:solidFill>
              <a:srgbClr val="D8AB8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59" name="Google Shape;59;p5"/>
            <p:cNvSpPr/>
            <p:nvPr/>
          </p:nvSpPr>
          <p:spPr>
            <a:xfrm rot="8100212">
              <a:off x="8566036" y="-807546"/>
              <a:ext cx="3435478" cy="2694077"/>
            </a:xfrm>
            <a:prstGeom prst="roundRect">
              <a:avLst>
                <a:gd name="adj" fmla="val 10196"/>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grpSp>
        <p:nvGrpSpPr>
          <p:cNvPr id="60" name="Google Shape;60;p5"/>
          <p:cNvGrpSpPr/>
          <p:nvPr/>
        </p:nvGrpSpPr>
        <p:grpSpPr>
          <a:xfrm rot="10800000" flipH="1">
            <a:off x="-3088675" y="-2537727"/>
            <a:ext cx="15343101" cy="9905801"/>
            <a:chOff x="-3088675" y="-2537727"/>
            <a:chExt cx="15343101" cy="9905801"/>
          </a:xfrm>
        </p:grpSpPr>
        <p:sp>
          <p:nvSpPr>
            <p:cNvPr id="61" name="Google Shape;61;p5"/>
            <p:cNvSpPr/>
            <p:nvPr/>
          </p:nvSpPr>
          <p:spPr>
            <a:xfrm rot="-2700000">
              <a:off x="7909" y="-2891521"/>
              <a:ext cx="846831"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62" name="Google Shape;62;p5"/>
            <p:cNvSpPr/>
            <p:nvPr/>
          </p:nvSpPr>
          <p:spPr>
            <a:xfrm rot="-2700000">
              <a:off x="-1635741" y="-2823821"/>
              <a:ext cx="846831"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63" name="Google Shape;63;p5"/>
            <p:cNvSpPr/>
            <p:nvPr/>
          </p:nvSpPr>
          <p:spPr>
            <a:xfrm rot="-2700000">
              <a:off x="-210502" y="1713955"/>
              <a:ext cx="588454"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64" name="Google Shape;64;p5"/>
            <p:cNvSpPr/>
            <p:nvPr/>
          </p:nvSpPr>
          <p:spPr>
            <a:xfrm rot="8100000">
              <a:off x="8289410" y="3261580"/>
              <a:ext cx="846831"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65" name="Google Shape;65;p5"/>
            <p:cNvSpPr/>
            <p:nvPr/>
          </p:nvSpPr>
          <p:spPr>
            <a:xfrm rot="8100000">
              <a:off x="9954660" y="3109505"/>
              <a:ext cx="846831"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66" name="Google Shape;66;p5"/>
            <p:cNvSpPr/>
            <p:nvPr/>
          </p:nvSpPr>
          <p:spPr>
            <a:xfrm rot="8100000">
              <a:off x="9093047" y="-1336521"/>
              <a:ext cx="588454"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sp>
        <p:nvSpPr>
          <p:cNvPr id="67" name="Google Shape;67;p5"/>
          <p:cNvSpPr txBox="1">
            <a:spLocks noGrp="1"/>
          </p:cNvSpPr>
          <p:nvPr>
            <p:ph type="title"/>
          </p:nvPr>
        </p:nvSpPr>
        <p:spPr>
          <a:xfrm>
            <a:off x="2135550" y="1655488"/>
            <a:ext cx="4872900" cy="1161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65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
        <p:nvSpPr>
          <p:cNvPr id="68" name="Google Shape;68;p5"/>
          <p:cNvSpPr txBox="1">
            <a:spLocks noGrp="1"/>
          </p:cNvSpPr>
          <p:nvPr>
            <p:ph type="subTitle" idx="1"/>
          </p:nvPr>
        </p:nvSpPr>
        <p:spPr>
          <a:xfrm>
            <a:off x="2135550" y="2816913"/>
            <a:ext cx="4872900" cy="671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0"/>
        <p:cNvGrpSpPr/>
        <p:nvPr/>
      </p:nvGrpSpPr>
      <p:grpSpPr>
        <a:xfrm>
          <a:off x="0" y="0"/>
          <a:ext cx="0" cy="0"/>
          <a:chOff x="0" y="0"/>
          <a:chExt cx="0" cy="0"/>
        </a:xfrm>
      </p:grpSpPr>
      <p:pic>
        <p:nvPicPr>
          <p:cNvPr id="71" name="Google Shape;71;p7"/>
          <p:cNvPicPr preferRelativeResize="0"/>
          <p:nvPr/>
        </p:nvPicPr>
        <p:blipFill rotWithShape="1">
          <a:blip r:embed="rId2">
            <a:alphaModFix amt="5000"/>
          </a:blip>
          <a:srcRect l="4162" t="14659" r="7458" b="10276"/>
          <a:stretch/>
        </p:blipFill>
        <p:spPr>
          <a:xfrm>
            <a:off x="-26999" y="0"/>
            <a:ext cx="9197998" cy="5211601"/>
          </a:xfrm>
          <a:prstGeom prst="rect">
            <a:avLst/>
          </a:prstGeom>
          <a:noFill/>
          <a:ln>
            <a:noFill/>
          </a:ln>
        </p:spPr>
      </p:pic>
      <p:grpSp>
        <p:nvGrpSpPr>
          <p:cNvPr id="72" name="Google Shape;72;p7"/>
          <p:cNvGrpSpPr/>
          <p:nvPr/>
        </p:nvGrpSpPr>
        <p:grpSpPr>
          <a:xfrm>
            <a:off x="7437259" y="-2297753"/>
            <a:ext cx="4480925" cy="9621350"/>
            <a:chOff x="7437259" y="-2297753"/>
            <a:chExt cx="4480925" cy="9621350"/>
          </a:xfrm>
        </p:grpSpPr>
        <p:sp>
          <p:nvSpPr>
            <p:cNvPr id="73" name="Google Shape;73;p7"/>
            <p:cNvSpPr/>
            <p:nvPr/>
          </p:nvSpPr>
          <p:spPr>
            <a:xfrm rot="2699788" flipH="1">
              <a:off x="7886661" y="-1477683"/>
              <a:ext cx="3435478" cy="2694077"/>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74" name="Google Shape;74;p7"/>
            <p:cNvSpPr/>
            <p:nvPr/>
          </p:nvSpPr>
          <p:spPr>
            <a:xfrm rot="-2700212" flipH="1">
              <a:off x="8033336" y="3809417"/>
              <a:ext cx="3435478" cy="2694077"/>
            </a:xfrm>
            <a:prstGeom prst="roundRect">
              <a:avLst>
                <a:gd name="adj" fmla="val 10196"/>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grpSp>
        <p:nvGrpSpPr>
          <p:cNvPr id="75" name="Google Shape;75;p7"/>
          <p:cNvGrpSpPr/>
          <p:nvPr/>
        </p:nvGrpSpPr>
        <p:grpSpPr>
          <a:xfrm rot="10800000" flipH="1">
            <a:off x="8420663" y="-2877552"/>
            <a:ext cx="3884762" cy="10956426"/>
            <a:chOff x="8420663" y="-3053227"/>
            <a:chExt cx="3884762" cy="10956426"/>
          </a:xfrm>
        </p:grpSpPr>
        <p:sp>
          <p:nvSpPr>
            <p:cNvPr id="76" name="Google Shape;76;p7"/>
            <p:cNvSpPr/>
            <p:nvPr/>
          </p:nvSpPr>
          <p:spPr>
            <a:xfrm rot="2700000" flipH="1">
              <a:off x="9873597" y="-3407021"/>
              <a:ext cx="846831" cy="4460288"/>
            </a:xfrm>
            <a:prstGeom prst="roundRect">
              <a:avLst>
                <a:gd name="adj" fmla="val 19213"/>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77" name="Google Shape;77;p7"/>
            <p:cNvSpPr/>
            <p:nvPr/>
          </p:nvSpPr>
          <p:spPr>
            <a:xfrm rot="2700000" flipH="1">
              <a:off x="10005659" y="-2099346"/>
              <a:ext cx="846831"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78" name="Google Shape;78;p7"/>
            <p:cNvSpPr/>
            <p:nvPr/>
          </p:nvSpPr>
          <p:spPr>
            <a:xfrm rot="8100000" flipH="1">
              <a:off x="10068835" y="3888055"/>
              <a:ext cx="588454"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9"/>
        <p:cNvGrpSpPr/>
        <p:nvPr/>
      </p:nvGrpSpPr>
      <p:grpSpPr>
        <a:xfrm>
          <a:off x="0" y="0"/>
          <a:ext cx="0" cy="0"/>
          <a:chOff x="0" y="0"/>
          <a:chExt cx="0" cy="0"/>
        </a:xfrm>
      </p:grpSpPr>
      <p:pic>
        <p:nvPicPr>
          <p:cNvPr id="80" name="Google Shape;80;p8"/>
          <p:cNvPicPr preferRelativeResize="0"/>
          <p:nvPr/>
        </p:nvPicPr>
        <p:blipFill rotWithShape="1">
          <a:blip r:embed="rId2">
            <a:alphaModFix amt="5000"/>
          </a:blip>
          <a:srcRect l="4162" t="14659" r="7458" b="10276"/>
          <a:stretch/>
        </p:blipFill>
        <p:spPr>
          <a:xfrm>
            <a:off x="-26999" y="0"/>
            <a:ext cx="9197998" cy="5211601"/>
          </a:xfrm>
          <a:prstGeom prst="rect">
            <a:avLst/>
          </a:prstGeom>
          <a:noFill/>
          <a:ln>
            <a:noFill/>
          </a:ln>
        </p:spPr>
      </p:pic>
      <p:grpSp>
        <p:nvGrpSpPr>
          <p:cNvPr id="81" name="Google Shape;81;p8"/>
          <p:cNvGrpSpPr/>
          <p:nvPr/>
        </p:nvGrpSpPr>
        <p:grpSpPr>
          <a:xfrm rot="10800000" flipH="1">
            <a:off x="-3021191" y="-2003703"/>
            <a:ext cx="15472107" cy="8830381"/>
            <a:chOff x="-3021191" y="-1996329"/>
            <a:chExt cx="15472107" cy="8830381"/>
          </a:xfrm>
        </p:grpSpPr>
        <p:sp>
          <p:nvSpPr>
            <p:cNvPr id="82" name="Google Shape;82;p8"/>
            <p:cNvSpPr/>
            <p:nvPr/>
          </p:nvSpPr>
          <p:spPr>
            <a:xfrm rot="-2699788">
              <a:off x="-1577264" y="-1176259"/>
              <a:ext cx="3435478" cy="2694077"/>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83" name="Google Shape;83;p8"/>
            <p:cNvSpPr/>
            <p:nvPr/>
          </p:nvSpPr>
          <p:spPr>
            <a:xfrm rot="-2699788">
              <a:off x="-2571789" y="2979116"/>
              <a:ext cx="3435478" cy="2694077"/>
            </a:xfrm>
            <a:prstGeom prst="roundRect">
              <a:avLst>
                <a:gd name="adj" fmla="val 10196"/>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84" name="Google Shape;84;p8"/>
            <p:cNvSpPr/>
            <p:nvPr/>
          </p:nvSpPr>
          <p:spPr>
            <a:xfrm rot="8100212">
              <a:off x="7584961" y="3319904"/>
              <a:ext cx="3435478" cy="2694077"/>
            </a:xfrm>
            <a:prstGeom prst="rect">
              <a:avLst/>
            </a:prstGeom>
            <a:solidFill>
              <a:srgbClr val="D8AB8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85" name="Google Shape;85;p8"/>
            <p:cNvSpPr/>
            <p:nvPr/>
          </p:nvSpPr>
          <p:spPr>
            <a:xfrm rot="8100212">
              <a:off x="8566036" y="-807546"/>
              <a:ext cx="3435478" cy="2694077"/>
            </a:xfrm>
            <a:prstGeom prst="roundRect">
              <a:avLst>
                <a:gd name="adj" fmla="val 10196"/>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grpSp>
        <p:nvGrpSpPr>
          <p:cNvPr id="86" name="Google Shape;86;p8"/>
          <p:cNvGrpSpPr/>
          <p:nvPr/>
        </p:nvGrpSpPr>
        <p:grpSpPr>
          <a:xfrm rot="10800000" flipH="1">
            <a:off x="-3088675" y="-2537727"/>
            <a:ext cx="15343101" cy="9905801"/>
            <a:chOff x="-3088675" y="-2537727"/>
            <a:chExt cx="15343101" cy="9905801"/>
          </a:xfrm>
        </p:grpSpPr>
        <p:sp>
          <p:nvSpPr>
            <p:cNvPr id="87" name="Google Shape;87;p8"/>
            <p:cNvSpPr/>
            <p:nvPr/>
          </p:nvSpPr>
          <p:spPr>
            <a:xfrm rot="-2700000">
              <a:off x="7909" y="-2891521"/>
              <a:ext cx="846831"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88" name="Google Shape;88;p8"/>
            <p:cNvSpPr/>
            <p:nvPr/>
          </p:nvSpPr>
          <p:spPr>
            <a:xfrm rot="-2700000">
              <a:off x="-1635741" y="-2823821"/>
              <a:ext cx="846831"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89" name="Google Shape;89;p8"/>
            <p:cNvSpPr/>
            <p:nvPr/>
          </p:nvSpPr>
          <p:spPr>
            <a:xfrm rot="-2700000">
              <a:off x="-210502" y="1713955"/>
              <a:ext cx="588454"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90" name="Google Shape;90;p8"/>
            <p:cNvSpPr/>
            <p:nvPr/>
          </p:nvSpPr>
          <p:spPr>
            <a:xfrm rot="8100000">
              <a:off x="8289410" y="3261580"/>
              <a:ext cx="846831" cy="4460288"/>
            </a:xfrm>
            <a:prstGeom prst="roundRect">
              <a:avLst>
                <a:gd name="adj" fmla="val 19213"/>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91" name="Google Shape;91;p8"/>
            <p:cNvSpPr/>
            <p:nvPr/>
          </p:nvSpPr>
          <p:spPr>
            <a:xfrm rot="8100000">
              <a:off x="9954660" y="3109505"/>
              <a:ext cx="846831"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sp>
          <p:nvSpPr>
            <p:cNvPr id="92" name="Google Shape;92;p8"/>
            <p:cNvSpPr/>
            <p:nvPr/>
          </p:nvSpPr>
          <p:spPr>
            <a:xfrm rot="8100000">
              <a:off x="9093047" y="-1336521"/>
              <a:ext cx="588454" cy="4460288"/>
            </a:xfrm>
            <a:prstGeom prst="roundRect">
              <a:avLst>
                <a:gd name="adj" fmla="val 19213"/>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ctor"/>
                <a:ea typeface="Actor"/>
                <a:cs typeface="Actor"/>
                <a:sym typeface="Acto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bhaya Libre"/>
              <a:buNone/>
              <a:defRPr sz="2800" b="1" i="0" u="none" strike="noStrike" cap="none">
                <a:solidFill>
                  <a:schemeClr val="dk1"/>
                </a:solidFill>
                <a:latin typeface="Abhaya Libre"/>
                <a:ea typeface="Abhaya Libre"/>
                <a:cs typeface="Abhaya Libre"/>
                <a:sym typeface="Abhaya Libre"/>
              </a:defRPr>
            </a:lvl1pPr>
            <a:lvl2pPr marR="0" lvl="1" algn="l" rtl="0">
              <a:lnSpc>
                <a:spcPct val="100000"/>
              </a:lnSpc>
              <a:spcBef>
                <a:spcPts val="0"/>
              </a:spcBef>
              <a:spcAft>
                <a:spcPts val="0"/>
              </a:spcAft>
              <a:buClr>
                <a:schemeClr val="dk1"/>
              </a:buClr>
              <a:buSzPts val="3000"/>
              <a:buFont typeface="Abhaya Libre"/>
              <a:buNone/>
              <a:defRPr sz="3000" b="1" i="0" u="none" strike="noStrike" cap="none">
                <a:solidFill>
                  <a:schemeClr val="dk1"/>
                </a:solidFill>
                <a:latin typeface="Abhaya Libre"/>
                <a:ea typeface="Abhaya Libre"/>
                <a:cs typeface="Abhaya Libre"/>
                <a:sym typeface="Abhaya Libre"/>
              </a:defRPr>
            </a:lvl2pPr>
            <a:lvl3pPr marR="0" lvl="2" algn="l" rtl="0">
              <a:lnSpc>
                <a:spcPct val="100000"/>
              </a:lnSpc>
              <a:spcBef>
                <a:spcPts val="0"/>
              </a:spcBef>
              <a:spcAft>
                <a:spcPts val="0"/>
              </a:spcAft>
              <a:buClr>
                <a:schemeClr val="dk1"/>
              </a:buClr>
              <a:buSzPts val="3000"/>
              <a:buFont typeface="Abhaya Libre"/>
              <a:buNone/>
              <a:defRPr sz="3000" b="1" i="0" u="none" strike="noStrike" cap="none">
                <a:solidFill>
                  <a:schemeClr val="dk1"/>
                </a:solidFill>
                <a:latin typeface="Abhaya Libre"/>
                <a:ea typeface="Abhaya Libre"/>
                <a:cs typeface="Abhaya Libre"/>
                <a:sym typeface="Abhaya Libre"/>
              </a:defRPr>
            </a:lvl3pPr>
            <a:lvl4pPr marR="0" lvl="3" algn="l" rtl="0">
              <a:lnSpc>
                <a:spcPct val="100000"/>
              </a:lnSpc>
              <a:spcBef>
                <a:spcPts val="0"/>
              </a:spcBef>
              <a:spcAft>
                <a:spcPts val="0"/>
              </a:spcAft>
              <a:buClr>
                <a:schemeClr val="dk1"/>
              </a:buClr>
              <a:buSzPts val="3000"/>
              <a:buFont typeface="Abhaya Libre"/>
              <a:buNone/>
              <a:defRPr sz="3000" b="1" i="0" u="none" strike="noStrike" cap="none">
                <a:solidFill>
                  <a:schemeClr val="dk1"/>
                </a:solidFill>
                <a:latin typeface="Abhaya Libre"/>
                <a:ea typeface="Abhaya Libre"/>
                <a:cs typeface="Abhaya Libre"/>
                <a:sym typeface="Abhaya Libre"/>
              </a:defRPr>
            </a:lvl4pPr>
            <a:lvl5pPr marR="0" lvl="4" algn="l" rtl="0">
              <a:lnSpc>
                <a:spcPct val="100000"/>
              </a:lnSpc>
              <a:spcBef>
                <a:spcPts val="0"/>
              </a:spcBef>
              <a:spcAft>
                <a:spcPts val="0"/>
              </a:spcAft>
              <a:buClr>
                <a:schemeClr val="dk1"/>
              </a:buClr>
              <a:buSzPts val="3000"/>
              <a:buFont typeface="Abhaya Libre"/>
              <a:buNone/>
              <a:defRPr sz="3000" b="1" i="0" u="none" strike="noStrike" cap="none">
                <a:solidFill>
                  <a:schemeClr val="dk1"/>
                </a:solidFill>
                <a:latin typeface="Abhaya Libre"/>
                <a:ea typeface="Abhaya Libre"/>
                <a:cs typeface="Abhaya Libre"/>
                <a:sym typeface="Abhaya Libre"/>
              </a:defRPr>
            </a:lvl5pPr>
            <a:lvl6pPr marR="0" lvl="5" algn="l" rtl="0">
              <a:lnSpc>
                <a:spcPct val="100000"/>
              </a:lnSpc>
              <a:spcBef>
                <a:spcPts val="0"/>
              </a:spcBef>
              <a:spcAft>
                <a:spcPts val="0"/>
              </a:spcAft>
              <a:buClr>
                <a:schemeClr val="dk1"/>
              </a:buClr>
              <a:buSzPts val="3000"/>
              <a:buFont typeface="Abhaya Libre"/>
              <a:buNone/>
              <a:defRPr sz="3000" b="1" i="0" u="none" strike="noStrike" cap="none">
                <a:solidFill>
                  <a:schemeClr val="dk1"/>
                </a:solidFill>
                <a:latin typeface="Abhaya Libre"/>
                <a:ea typeface="Abhaya Libre"/>
                <a:cs typeface="Abhaya Libre"/>
                <a:sym typeface="Abhaya Libre"/>
              </a:defRPr>
            </a:lvl6pPr>
            <a:lvl7pPr marR="0" lvl="6" algn="l" rtl="0">
              <a:lnSpc>
                <a:spcPct val="100000"/>
              </a:lnSpc>
              <a:spcBef>
                <a:spcPts val="0"/>
              </a:spcBef>
              <a:spcAft>
                <a:spcPts val="0"/>
              </a:spcAft>
              <a:buClr>
                <a:schemeClr val="dk1"/>
              </a:buClr>
              <a:buSzPts val="3000"/>
              <a:buFont typeface="Abhaya Libre"/>
              <a:buNone/>
              <a:defRPr sz="3000" b="1" i="0" u="none" strike="noStrike" cap="none">
                <a:solidFill>
                  <a:schemeClr val="dk1"/>
                </a:solidFill>
                <a:latin typeface="Abhaya Libre"/>
                <a:ea typeface="Abhaya Libre"/>
                <a:cs typeface="Abhaya Libre"/>
                <a:sym typeface="Abhaya Libre"/>
              </a:defRPr>
            </a:lvl7pPr>
            <a:lvl8pPr marR="0" lvl="7" algn="l" rtl="0">
              <a:lnSpc>
                <a:spcPct val="100000"/>
              </a:lnSpc>
              <a:spcBef>
                <a:spcPts val="0"/>
              </a:spcBef>
              <a:spcAft>
                <a:spcPts val="0"/>
              </a:spcAft>
              <a:buClr>
                <a:schemeClr val="dk1"/>
              </a:buClr>
              <a:buSzPts val="3000"/>
              <a:buFont typeface="Abhaya Libre"/>
              <a:buNone/>
              <a:defRPr sz="3000" b="1" i="0" u="none" strike="noStrike" cap="none">
                <a:solidFill>
                  <a:schemeClr val="dk1"/>
                </a:solidFill>
                <a:latin typeface="Abhaya Libre"/>
                <a:ea typeface="Abhaya Libre"/>
                <a:cs typeface="Abhaya Libre"/>
                <a:sym typeface="Abhaya Libre"/>
              </a:defRPr>
            </a:lvl8pPr>
            <a:lvl9pPr marR="0" lvl="8" algn="l" rtl="0">
              <a:lnSpc>
                <a:spcPct val="100000"/>
              </a:lnSpc>
              <a:spcBef>
                <a:spcPts val="0"/>
              </a:spcBef>
              <a:spcAft>
                <a:spcPts val="0"/>
              </a:spcAft>
              <a:buClr>
                <a:schemeClr val="dk1"/>
              </a:buClr>
              <a:buSzPts val="3000"/>
              <a:buFont typeface="Abhaya Libre"/>
              <a:buNone/>
              <a:defRPr sz="3000" b="1" i="0" u="none" strike="noStrike" cap="none">
                <a:solidFill>
                  <a:schemeClr val="dk1"/>
                </a:solidFill>
                <a:latin typeface="Abhaya Libre"/>
                <a:ea typeface="Abhaya Libre"/>
                <a:cs typeface="Abhaya Libre"/>
                <a:sym typeface="Abhaya Lib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1pPr>
            <a:lvl2pPr marL="914400" marR="0" lvl="1"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2pPr>
            <a:lvl3pPr marL="1371600" marR="0" lvl="2"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3pPr>
            <a:lvl4pPr marL="1828800" marR="0" lvl="3"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4pPr>
            <a:lvl5pPr marL="2286000" marR="0" lvl="4"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5pPr>
            <a:lvl6pPr marL="2743200" marR="0" lvl="5"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6pPr>
            <a:lvl7pPr marL="3200400" marR="0" lvl="6"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7pPr>
            <a:lvl8pPr marL="3657600" marR="0" lvl="7"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8pPr>
            <a:lvl9pPr marL="4114800" marR="0" lvl="8" indent="-317500" algn="l" rtl="0">
              <a:lnSpc>
                <a:spcPct val="115000"/>
              </a:lnSpc>
              <a:spcBef>
                <a:spcPts val="0"/>
              </a:spcBef>
              <a:spcAft>
                <a:spcPts val="0"/>
              </a:spcAft>
              <a:buClr>
                <a:schemeClr val="dk1"/>
              </a:buClr>
              <a:buSzPts val="1400"/>
              <a:buFont typeface="Actor"/>
              <a:buChar char="■"/>
              <a:defRPr sz="1400" b="0" i="0" u="none" strike="noStrike" cap="none">
                <a:solidFill>
                  <a:schemeClr val="dk1"/>
                </a:solidFill>
                <a:latin typeface="Actor"/>
                <a:ea typeface="Actor"/>
                <a:cs typeface="Actor"/>
                <a:sym typeface="Acto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9"/>
          <p:cNvSpPr txBox="1">
            <a:spLocks noGrp="1"/>
          </p:cNvSpPr>
          <p:nvPr>
            <p:ph type="ctrTitle"/>
          </p:nvPr>
        </p:nvSpPr>
        <p:spPr>
          <a:xfrm>
            <a:off x="812250" y="2209785"/>
            <a:ext cx="7519500" cy="1285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r>
              <a:rPr lang="en-US"/>
              <a:t>PrognosAI: AI-Driven Predictive Maintenance System Using Time-Series Sensor Data</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0"/>
          <p:cNvSpPr txBox="1">
            <a:spLocks noGrp="1"/>
          </p:cNvSpPr>
          <p:nvPr>
            <p:ph type="title"/>
          </p:nvPr>
        </p:nvSpPr>
        <p:spPr>
          <a:xfrm>
            <a:off x="678852"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Introduction</a:t>
            </a:r>
            <a:endParaRPr sz="4000"/>
          </a:p>
        </p:txBody>
      </p:sp>
      <p:sp>
        <p:nvSpPr>
          <p:cNvPr id="103" name="Google Shape;103;p10"/>
          <p:cNvSpPr txBox="1">
            <a:spLocks noGrp="1"/>
          </p:cNvSpPr>
          <p:nvPr>
            <p:ph type="subTitle" idx="2"/>
          </p:nvPr>
        </p:nvSpPr>
        <p:spPr>
          <a:xfrm>
            <a:off x="527975" y="1300175"/>
            <a:ext cx="6732000" cy="1864800"/>
          </a:xfrm>
          <a:prstGeom prst="rect">
            <a:avLst/>
          </a:prstGeom>
          <a:noFill/>
          <a:ln>
            <a:noFill/>
          </a:ln>
        </p:spPr>
        <p:txBody>
          <a:bodyPr spcFirstLastPara="1" wrap="square" lIns="91425" tIns="91425" rIns="91425" bIns="91425" anchor="t" anchorCtr="0">
            <a:noAutofit/>
          </a:bodyPr>
          <a:lstStyle/>
          <a:p>
            <a:pPr marL="139700" lvl="0" indent="0" algn="just" rtl="0">
              <a:lnSpc>
                <a:spcPct val="115000"/>
              </a:lnSpc>
              <a:spcBef>
                <a:spcPts val="0"/>
              </a:spcBef>
              <a:spcAft>
                <a:spcPts val="0"/>
              </a:spcAft>
              <a:buSzPts val="1400"/>
              <a:buNone/>
            </a:pPr>
            <a:r>
              <a:rPr lang="en-US" sz="1800">
                <a:latin typeface="Arial"/>
                <a:ea typeface="Arial"/>
                <a:cs typeface="Arial"/>
                <a:sym typeface="Arial"/>
              </a:rPr>
              <a:t>PrognosAI is an AI-based predictive maintenance system designed to estimate the Remaining Useful Life (RUL) of industrial machinery using multivariate time-series sensor data. It leverages deep learning models such as LSTM to predict potential failures before they occur, ensuring timely maintenance and reduced downtime.</a:t>
            </a:r>
            <a:endParaRPr sz="1800"/>
          </a:p>
          <a:p>
            <a:pPr marL="0" lvl="0" indent="0" algn="just" rtl="0">
              <a:lnSpc>
                <a:spcPct val="115000"/>
              </a:lnSpc>
              <a:spcBef>
                <a:spcPts val="0"/>
              </a:spcBef>
              <a:spcAft>
                <a:spcPts val="0"/>
              </a:spcAft>
              <a:buSzPts val="1400"/>
              <a:buNone/>
            </a:pPr>
            <a:endParaRPr sz="1800"/>
          </a:p>
          <a:p>
            <a:pPr marL="0" lvl="0" indent="0" algn="just" rtl="0">
              <a:lnSpc>
                <a:spcPct val="115000"/>
              </a:lnSpc>
              <a:spcBef>
                <a:spcPts val="0"/>
              </a:spcBef>
              <a:spcAft>
                <a:spcPts val="0"/>
              </a:spcAft>
              <a:buSzPts val="1400"/>
              <a:buNone/>
            </a:pPr>
            <a:endParaRPr sz="1800"/>
          </a:p>
          <a:p>
            <a:pPr marL="0" lvl="0" indent="0" algn="just" rtl="0">
              <a:lnSpc>
                <a:spcPct val="115000"/>
              </a:lnSpc>
              <a:spcBef>
                <a:spcPts val="0"/>
              </a:spcBef>
              <a:spcAft>
                <a:spcPts val="0"/>
              </a:spcAft>
              <a:buSzPts val="1400"/>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Motivation</a:t>
            </a:r>
            <a:endParaRPr sz="3600"/>
          </a:p>
        </p:txBody>
      </p:sp>
      <p:sp>
        <p:nvSpPr>
          <p:cNvPr id="109" name="Google Shape;109;p11"/>
          <p:cNvSpPr txBox="1">
            <a:spLocks noGrp="1"/>
          </p:cNvSpPr>
          <p:nvPr>
            <p:ph type="subTitle" idx="2"/>
          </p:nvPr>
        </p:nvSpPr>
        <p:spPr>
          <a:xfrm>
            <a:off x="557182" y="1343590"/>
            <a:ext cx="6572400" cy="2909100"/>
          </a:xfrm>
          <a:prstGeom prst="rect">
            <a:avLst/>
          </a:prstGeom>
          <a:noFill/>
          <a:ln>
            <a:noFill/>
          </a:ln>
        </p:spPr>
        <p:txBody>
          <a:bodyPr spcFirstLastPara="1" wrap="square" lIns="91425" tIns="91425" rIns="91425" bIns="91425" anchor="t" anchorCtr="0">
            <a:noAutofit/>
          </a:bodyPr>
          <a:lstStyle/>
          <a:p>
            <a:pPr marL="139700" lvl="0" indent="0" algn="just" rtl="0">
              <a:lnSpc>
                <a:spcPct val="115000"/>
              </a:lnSpc>
              <a:spcBef>
                <a:spcPts val="0"/>
              </a:spcBef>
              <a:spcAft>
                <a:spcPts val="0"/>
              </a:spcAft>
              <a:buSzPts val="1400"/>
              <a:buNone/>
            </a:pPr>
            <a:r>
              <a:rPr lang="en-US" sz="1800">
                <a:latin typeface="Arial"/>
                <a:ea typeface="Arial"/>
                <a:cs typeface="Arial"/>
                <a:sym typeface="Arial"/>
              </a:rPr>
              <a:t>Unplanned machinery failures in industries lead to high repair costs, production loss, and safety hazards. Predictive maintenance using AI allows early fault detection, enabling proactive maintenance scheduling. This enhances reliability, minimizes costs, and improves operational efficiency.</a:t>
            </a:r>
            <a:endParaRPr sz="1800"/>
          </a:p>
          <a:p>
            <a:pPr marL="457200" lvl="0" indent="-317500" algn="just" rtl="0">
              <a:lnSpc>
                <a:spcPct val="115000"/>
              </a:lnSpc>
              <a:spcBef>
                <a:spcPts val="0"/>
              </a:spcBef>
              <a:spcAft>
                <a:spcPts val="0"/>
              </a:spcAft>
              <a:buSzPts val="1400"/>
              <a:buNone/>
            </a:pPr>
            <a:endParaRPr sz="18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Objectives</a:t>
            </a:r>
            <a:endParaRPr/>
          </a:p>
        </p:txBody>
      </p:sp>
      <p:sp>
        <p:nvSpPr>
          <p:cNvPr id="115" name="Google Shape;115;p12"/>
          <p:cNvSpPr txBox="1">
            <a:spLocks noGrp="1"/>
          </p:cNvSpPr>
          <p:nvPr>
            <p:ph type="subTitle" idx="2"/>
          </p:nvPr>
        </p:nvSpPr>
        <p:spPr>
          <a:xfrm>
            <a:off x="712800" y="1250425"/>
            <a:ext cx="7150500" cy="290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US" sz="2000">
                <a:latin typeface="Arial"/>
                <a:ea typeface="Arial"/>
                <a:cs typeface="Arial"/>
                <a:sym typeface="Arial"/>
              </a:rPr>
              <a:t>- Design and develop a predictive maintenance system using AI and time-series data.</a:t>
            </a:r>
            <a:endParaRPr sz="2000">
              <a:latin typeface="Arial"/>
              <a:ea typeface="Arial"/>
              <a:cs typeface="Arial"/>
              <a:sym typeface="Arial"/>
            </a:endParaRPr>
          </a:p>
          <a:p>
            <a:pPr marL="0" lvl="0" indent="0" algn="l" rtl="0">
              <a:lnSpc>
                <a:spcPct val="115000"/>
              </a:lnSpc>
              <a:spcBef>
                <a:spcPts val="0"/>
              </a:spcBef>
              <a:spcAft>
                <a:spcPts val="0"/>
              </a:spcAft>
              <a:buSzPts val="1400"/>
              <a:buNone/>
            </a:pPr>
            <a:r>
              <a:rPr lang="en-US" sz="2000">
                <a:latin typeface="Arial"/>
                <a:ea typeface="Arial"/>
                <a:cs typeface="Arial"/>
                <a:sym typeface="Arial"/>
              </a:rPr>
              <a:t>- Estimate Remaining Useful Life (RUL) of machinery using deep learning.</a:t>
            </a:r>
            <a:endParaRPr sz="2000">
              <a:latin typeface="Arial"/>
              <a:ea typeface="Arial"/>
              <a:cs typeface="Arial"/>
              <a:sym typeface="Arial"/>
            </a:endParaRPr>
          </a:p>
          <a:p>
            <a:pPr marL="0" lvl="0" indent="0" algn="l" rtl="0">
              <a:lnSpc>
                <a:spcPct val="115000"/>
              </a:lnSpc>
              <a:spcBef>
                <a:spcPts val="0"/>
              </a:spcBef>
              <a:spcAft>
                <a:spcPts val="0"/>
              </a:spcAft>
              <a:buSzPts val="1400"/>
              <a:buNone/>
            </a:pPr>
            <a:r>
              <a:rPr lang="en-US" sz="2000">
                <a:latin typeface="Arial"/>
                <a:ea typeface="Arial"/>
                <a:cs typeface="Arial"/>
                <a:sym typeface="Arial"/>
              </a:rPr>
              <a:t>- Implement LSTM-based sequential pattern recognition for failure prediction.</a:t>
            </a:r>
            <a:endParaRPr sz="2000">
              <a:latin typeface="Arial"/>
              <a:ea typeface="Arial"/>
              <a:cs typeface="Arial"/>
              <a:sym typeface="Arial"/>
            </a:endParaRPr>
          </a:p>
          <a:p>
            <a:pPr marL="0" lvl="0" indent="0" algn="l" rtl="0">
              <a:lnSpc>
                <a:spcPct val="115000"/>
              </a:lnSpc>
              <a:spcBef>
                <a:spcPts val="0"/>
              </a:spcBef>
              <a:spcAft>
                <a:spcPts val="0"/>
              </a:spcAft>
              <a:buSzPts val="1400"/>
              <a:buNone/>
            </a:pPr>
            <a:r>
              <a:rPr lang="en-US" sz="2000">
                <a:latin typeface="Arial"/>
                <a:ea typeface="Arial"/>
                <a:cs typeface="Arial"/>
                <a:sym typeface="Arial"/>
              </a:rPr>
              <a:t>- Reduce unplanned downtime and optimize asset utilization.</a:t>
            </a:r>
            <a:endParaRPr sz="2000">
              <a:latin typeface="Arial"/>
              <a:ea typeface="Arial"/>
              <a:cs typeface="Arial"/>
              <a:sym typeface="Arial"/>
            </a:endParaRPr>
          </a:p>
          <a:p>
            <a:pPr marL="0" lvl="0" indent="0" algn="l" rtl="0">
              <a:lnSpc>
                <a:spcPct val="115000"/>
              </a:lnSpc>
              <a:spcBef>
                <a:spcPts val="0"/>
              </a:spcBef>
              <a:spcAft>
                <a:spcPts val="0"/>
              </a:spcAft>
              <a:buSzPts val="1400"/>
              <a:buNone/>
            </a:pPr>
            <a:r>
              <a:rPr lang="en-US" sz="2000">
                <a:latin typeface="Arial"/>
                <a:ea typeface="Arial"/>
                <a:cs typeface="Arial"/>
                <a:sym typeface="Arial"/>
              </a:rPr>
              <a:t>- Ensure model generalization for turbines, pumps, and motors.</a:t>
            </a:r>
            <a:endParaRPr sz="2000">
              <a:latin typeface="Arial"/>
              <a:ea typeface="Arial"/>
              <a:cs typeface="Arial"/>
              <a:sym typeface="Arial"/>
            </a:endParaRPr>
          </a:p>
          <a:p>
            <a:pPr marL="457200" lvl="0" indent="-317500" algn="l" rtl="0">
              <a:lnSpc>
                <a:spcPct val="115000"/>
              </a:lnSpc>
              <a:spcBef>
                <a:spcPts val="0"/>
              </a:spcBef>
              <a:spcAft>
                <a:spcPts val="0"/>
              </a:spcAft>
              <a:buSzPts val="1400"/>
              <a:buNone/>
            </a:pPr>
            <a:endParaRPr sz="20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Project Workflow :</a:t>
            </a:r>
            <a:endParaRPr/>
          </a:p>
        </p:txBody>
      </p:sp>
      <p:sp>
        <p:nvSpPr>
          <p:cNvPr id="121" name="Google Shape;121;p13"/>
          <p:cNvSpPr txBox="1">
            <a:spLocks noGrp="1"/>
          </p:cNvSpPr>
          <p:nvPr>
            <p:ph type="subTitle" idx="2"/>
          </p:nvPr>
        </p:nvSpPr>
        <p:spPr>
          <a:xfrm>
            <a:off x="720000" y="1305212"/>
            <a:ext cx="6951300" cy="2909100"/>
          </a:xfrm>
          <a:prstGeom prst="rect">
            <a:avLst/>
          </a:prstGeom>
          <a:noFill/>
          <a:ln>
            <a:noFill/>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SzPts val="1800"/>
              <a:buFont typeface="Arial"/>
              <a:buAutoNum type="arabicPeriod"/>
            </a:pPr>
            <a:r>
              <a:rPr lang="en-US" sz="1800">
                <a:latin typeface="Arial"/>
                <a:ea typeface="Arial"/>
                <a:cs typeface="Arial"/>
                <a:sym typeface="Arial"/>
              </a:rPr>
              <a:t>Data Ingestion: Load and preprocess CMAPSS dataset.</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AutoNum type="arabicPeriod"/>
            </a:pPr>
            <a:r>
              <a:rPr lang="en-US" sz="1800">
                <a:latin typeface="Arial"/>
                <a:ea typeface="Arial"/>
                <a:cs typeface="Arial"/>
                <a:sym typeface="Arial"/>
              </a:rPr>
              <a:t>Feature Engineering: Create rolling window sequences and compute RUL targets.</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AutoNum type="arabicPeriod"/>
            </a:pPr>
            <a:r>
              <a:rPr lang="en-US" sz="1800">
                <a:latin typeface="Arial"/>
                <a:ea typeface="Arial"/>
                <a:cs typeface="Arial"/>
                <a:sym typeface="Arial"/>
              </a:rPr>
              <a:t>Model Training: Train LSTM/GRU models for RUL prediction.</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AutoNum type="arabicPeriod"/>
            </a:pPr>
            <a:r>
              <a:rPr lang="en-US" sz="1800">
                <a:latin typeface="Arial"/>
                <a:ea typeface="Arial"/>
                <a:cs typeface="Arial"/>
                <a:sym typeface="Arial"/>
              </a:rPr>
              <a:t>Model Evaluation: Evaluate using RMSE and compare predicted vs actual RUL.</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AutoNum type="arabicPeriod"/>
            </a:pPr>
            <a:r>
              <a:rPr lang="en-US" sz="1800">
                <a:latin typeface="Arial"/>
                <a:ea typeface="Arial"/>
                <a:cs typeface="Arial"/>
                <a:sym typeface="Arial"/>
              </a:rPr>
              <a:t>Risk Thresholding: Define alert thresholds for maintenance.</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AutoNum type="arabicPeriod"/>
            </a:pPr>
            <a:r>
              <a:rPr lang="en-US" sz="1800">
                <a:latin typeface="Arial"/>
                <a:ea typeface="Arial"/>
                <a:cs typeface="Arial"/>
                <a:sym typeface="Arial"/>
              </a:rPr>
              <a:t>Visualization &amp; Output: Display RUL trends and alert zones via dashboards.</a:t>
            </a:r>
            <a:endParaRPr sz="1800">
              <a:latin typeface="Arial"/>
              <a:ea typeface="Arial"/>
              <a:cs typeface="Arial"/>
              <a:sym typeface="Arial"/>
            </a:endParaRPr>
          </a:p>
          <a:p>
            <a:pPr marL="457200" lvl="0" indent="-317500" algn="just" rtl="0">
              <a:lnSpc>
                <a:spcPct val="115000"/>
              </a:lnSpc>
              <a:spcBef>
                <a:spcPts val="0"/>
              </a:spcBef>
              <a:spcAft>
                <a:spcPts val="0"/>
              </a:spcAft>
              <a:buSzPts val="1400"/>
              <a:buNone/>
            </a:pPr>
            <a:endParaRPr sz="18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Tech Stack :</a:t>
            </a:r>
            <a:endParaRPr sz="4000"/>
          </a:p>
        </p:txBody>
      </p:sp>
      <p:sp>
        <p:nvSpPr>
          <p:cNvPr id="127" name="Google Shape;127;p14"/>
          <p:cNvSpPr txBox="1">
            <a:spLocks noGrp="1"/>
          </p:cNvSpPr>
          <p:nvPr>
            <p:ph type="subTitle" idx="2"/>
          </p:nvPr>
        </p:nvSpPr>
        <p:spPr>
          <a:xfrm>
            <a:off x="720000" y="1277792"/>
            <a:ext cx="5995200" cy="2909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400"/>
              <a:buNone/>
            </a:pPr>
            <a:r>
              <a:rPr lang="en-US" sz="1800"/>
              <a:t>- Python – Core programming language</a:t>
            </a:r>
            <a:endParaRPr/>
          </a:p>
          <a:p>
            <a:pPr marL="0" lvl="0" indent="0" algn="just" rtl="0">
              <a:lnSpc>
                <a:spcPct val="115000"/>
              </a:lnSpc>
              <a:spcBef>
                <a:spcPts val="0"/>
              </a:spcBef>
              <a:spcAft>
                <a:spcPts val="0"/>
              </a:spcAft>
              <a:buSzPts val="1400"/>
              <a:buNone/>
            </a:pPr>
            <a:r>
              <a:rPr lang="en-US" sz="1800"/>
              <a:t>- Pandas, NumPy – Data processing</a:t>
            </a:r>
            <a:endParaRPr/>
          </a:p>
          <a:p>
            <a:pPr marL="0" lvl="0" indent="0" algn="just" rtl="0">
              <a:lnSpc>
                <a:spcPct val="115000"/>
              </a:lnSpc>
              <a:spcBef>
                <a:spcPts val="0"/>
              </a:spcBef>
              <a:spcAft>
                <a:spcPts val="0"/>
              </a:spcAft>
              <a:buSzPts val="1400"/>
              <a:buNone/>
            </a:pPr>
            <a:r>
              <a:rPr lang="en-US" sz="1800"/>
              <a:t>- Matplotlib, Seaborn – Visualization</a:t>
            </a:r>
            <a:endParaRPr/>
          </a:p>
          <a:p>
            <a:pPr marL="0" lvl="0" indent="0" algn="just" rtl="0">
              <a:lnSpc>
                <a:spcPct val="115000"/>
              </a:lnSpc>
              <a:spcBef>
                <a:spcPts val="0"/>
              </a:spcBef>
              <a:spcAft>
                <a:spcPts val="0"/>
              </a:spcAft>
              <a:buSzPts val="1400"/>
              <a:buNone/>
            </a:pPr>
            <a:r>
              <a:rPr lang="en-US" sz="1800"/>
              <a:t>- TensorFlow / Keras – LSTM model training</a:t>
            </a:r>
            <a:endParaRPr/>
          </a:p>
          <a:p>
            <a:pPr marL="0" lvl="0" indent="0" algn="just" rtl="0">
              <a:lnSpc>
                <a:spcPct val="115000"/>
              </a:lnSpc>
              <a:spcBef>
                <a:spcPts val="0"/>
              </a:spcBef>
              <a:spcAft>
                <a:spcPts val="0"/>
              </a:spcAft>
              <a:buSzPts val="1400"/>
              <a:buNone/>
            </a:pPr>
            <a:r>
              <a:rPr lang="en-US" sz="1800"/>
              <a:t>- Scikit-learn – Metrics &amp; preprocessing</a:t>
            </a:r>
            <a:endParaRPr/>
          </a:p>
          <a:p>
            <a:pPr marL="0" lvl="0" indent="0" algn="just" rtl="0">
              <a:lnSpc>
                <a:spcPct val="115000"/>
              </a:lnSpc>
              <a:spcBef>
                <a:spcPts val="0"/>
              </a:spcBef>
              <a:spcAft>
                <a:spcPts val="0"/>
              </a:spcAft>
              <a:buSzPts val="1400"/>
              <a:buNone/>
            </a:pPr>
            <a:r>
              <a:rPr lang="en-US" sz="1800"/>
              <a:t>- Streamlit / Flask – Dashboard or API interface</a:t>
            </a:r>
            <a:endParaRPr/>
          </a:p>
          <a:p>
            <a:pPr marL="0" lvl="0" indent="0" algn="just" rtl="0">
              <a:lnSpc>
                <a:spcPct val="115000"/>
              </a:lnSpc>
              <a:spcBef>
                <a:spcPts val="0"/>
              </a:spcBef>
              <a:spcAft>
                <a:spcPts val="0"/>
              </a:spcAft>
              <a:buSzPts val="1400"/>
              <a:buNone/>
            </a:pPr>
            <a:r>
              <a:rPr lang="en-US" sz="1800"/>
              <a:t>- Docker – Optional deployment</a:t>
            </a:r>
            <a:endParaRPr/>
          </a:p>
          <a:p>
            <a:pPr marL="0" lvl="0" indent="0" algn="just" rtl="0">
              <a:lnSpc>
                <a:spcPct val="115000"/>
              </a:lnSpc>
              <a:spcBef>
                <a:spcPts val="0"/>
              </a:spcBef>
              <a:spcAft>
                <a:spcPts val="0"/>
              </a:spcAft>
              <a:buSzPts val="1400"/>
              <a:buNone/>
            </a:pPr>
            <a:r>
              <a:rPr lang="en-US" sz="1800"/>
              <a:t>- NASA CMAPSS Dataset – Source data</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Model Training and Evaluation:</a:t>
            </a:r>
            <a:endParaRPr sz="4000"/>
          </a:p>
        </p:txBody>
      </p:sp>
      <p:sp>
        <p:nvSpPr>
          <p:cNvPr id="133" name="Google Shape;133;p15"/>
          <p:cNvSpPr txBox="1">
            <a:spLocks noGrp="1"/>
          </p:cNvSpPr>
          <p:nvPr>
            <p:ph type="subTitle" idx="2"/>
          </p:nvPr>
        </p:nvSpPr>
        <p:spPr>
          <a:xfrm>
            <a:off x="720000" y="1277800"/>
            <a:ext cx="7582200" cy="29091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Font typeface="Arial"/>
              <a:buChar char="●"/>
            </a:pPr>
            <a:r>
              <a:rPr lang="en-US" sz="1800" dirty="0">
                <a:latin typeface="Arial"/>
                <a:ea typeface="Arial"/>
                <a:cs typeface="Arial"/>
                <a:sym typeface="Arial"/>
              </a:rPr>
              <a:t>A </a:t>
            </a:r>
            <a:r>
              <a:rPr lang="en-US" sz="1800" b="1" dirty="0">
                <a:latin typeface="Arial"/>
                <a:ea typeface="Arial"/>
                <a:cs typeface="Arial"/>
                <a:sym typeface="Arial"/>
              </a:rPr>
              <a:t>LSTM deep learning model</a:t>
            </a:r>
            <a:r>
              <a:rPr lang="en-US" sz="1800" dirty="0">
                <a:latin typeface="Arial"/>
                <a:ea typeface="Arial"/>
                <a:cs typeface="Arial"/>
                <a:sym typeface="Arial"/>
              </a:rPr>
              <a:t> was developed to predict the Remaining Useful Life (RUL) of engines.</a:t>
            </a:r>
            <a:endParaRPr sz="1800" dirty="0">
              <a:latin typeface="Arial"/>
              <a:ea typeface="Arial"/>
              <a:cs typeface="Arial"/>
              <a:sym typeface="Arial"/>
            </a:endParaRPr>
          </a:p>
          <a:p>
            <a:pPr marL="457200" lvl="0" indent="-342900" algn="l" rtl="0">
              <a:lnSpc>
                <a:spcPct val="115000"/>
              </a:lnSpc>
              <a:spcBef>
                <a:spcPts val="0"/>
              </a:spcBef>
              <a:spcAft>
                <a:spcPts val="0"/>
              </a:spcAft>
              <a:buSzPts val="1800"/>
              <a:buFont typeface="Arial"/>
              <a:buChar char="●"/>
            </a:pPr>
            <a:r>
              <a:rPr lang="en-US" sz="1800" dirty="0">
                <a:latin typeface="Arial"/>
                <a:ea typeface="Arial"/>
                <a:cs typeface="Arial"/>
                <a:sym typeface="Arial"/>
              </a:rPr>
              <a:t>The model was trained using the </a:t>
            </a:r>
            <a:r>
              <a:rPr lang="en-US" sz="1800" b="1" dirty="0">
                <a:latin typeface="Arial"/>
                <a:ea typeface="Arial"/>
                <a:cs typeface="Arial"/>
                <a:sym typeface="Arial"/>
              </a:rPr>
              <a:t>CMAPSS sensor dataset</a:t>
            </a:r>
            <a:r>
              <a:rPr lang="en-US" sz="1800" dirty="0">
                <a:latin typeface="Arial"/>
                <a:ea typeface="Arial"/>
                <a:cs typeface="Arial"/>
                <a:sym typeface="Arial"/>
              </a:rPr>
              <a:t> containing multiple engine cycles.</a:t>
            </a:r>
            <a:endParaRPr sz="1800" dirty="0">
              <a:latin typeface="Arial"/>
              <a:ea typeface="Arial"/>
              <a:cs typeface="Arial"/>
              <a:sym typeface="Arial"/>
            </a:endParaRPr>
          </a:p>
          <a:p>
            <a:pPr marL="457200" lvl="0" indent="-342900" algn="l" rtl="0">
              <a:lnSpc>
                <a:spcPct val="115000"/>
              </a:lnSpc>
              <a:spcBef>
                <a:spcPts val="0"/>
              </a:spcBef>
              <a:spcAft>
                <a:spcPts val="0"/>
              </a:spcAft>
              <a:buSzPts val="1800"/>
              <a:buFont typeface="Arial"/>
              <a:buChar char="●"/>
            </a:pPr>
            <a:r>
              <a:rPr lang="en-US" sz="1800" b="1" dirty="0">
                <a:latin typeface="Arial"/>
                <a:ea typeface="Arial"/>
                <a:cs typeface="Arial"/>
                <a:sym typeface="Arial"/>
              </a:rPr>
              <a:t>Rolling window sequences</a:t>
            </a:r>
            <a:r>
              <a:rPr lang="en-US" sz="1800" dirty="0">
                <a:latin typeface="Arial"/>
                <a:ea typeface="Arial"/>
                <a:cs typeface="Arial"/>
                <a:sym typeface="Arial"/>
              </a:rPr>
              <a:t> were created to capture time-based patterns in sensor readings</a:t>
            </a:r>
            <a:endParaRPr sz="1800" dirty="0">
              <a:latin typeface="Arial"/>
              <a:ea typeface="Arial"/>
              <a:cs typeface="Arial"/>
              <a:sym typeface="Arial"/>
            </a:endParaRPr>
          </a:p>
          <a:p>
            <a:pPr marL="457200" lvl="0" indent="-342900" algn="l" rtl="0">
              <a:spcBef>
                <a:spcPts val="0"/>
              </a:spcBef>
              <a:spcAft>
                <a:spcPts val="0"/>
              </a:spcAft>
              <a:buSzPts val="1800"/>
              <a:buFont typeface="Arial"/>
              <a:buChar char="●"/>
            </a:pPr>
            <a:r>
              <a:rPr lang="en-US" sz="1800" dirty="0">
                <a:latin typeface="Arial"/>
                <a:ea typeface="Arial"/>
                <a:cs typeface="Arial"/>
                <a:sym typeface="Arial"/>
              </a:rPr>
              <a:t>The model’s predictions were evaluated using </a:t>
            </a:r>
            <a:r>
              <a:rPr lang="en-US" sz="1800" b="1" dirty="0">
                <a:latin typeface="Arial"/>
                <a:ea typeface="Arial"/>
                <a:cs typeface="Arial"/>
                <a:sym typeface="Arial"/>
              </a:rPr>
              <a:t>RMSE</a:t>
            </a:r>
            <a:r>
              <a:rPr lang="en-US" sz="1800" dirty="0">
                <a:latin typeface="Arial"/>
                <a:ea typeface="Arial"/>
                <a:cs typeface="Arial"/>
                <a:sym typeface="Arial"/>
              </a:rPr>
              <a:t> and visual comparison with actual RUL values.</a:t>
            </a:r>
            <a:endParaRPr sz="1800" dirty="0">
              <a:latin typeface="Arial"/>
              <a:ea typeface="Arial"/>
              <a:cs typeface="Arial"/>
              <a:sym typeface="Arial"/>
            </a:endParaRPr>
          </a:p>
          <a:p>
            <a:pPr lvl="0" indent="-342900">
              <a:buSzPts val="1800"/>
              <a:buFont typeface="Arial"/>
              <a:buChar char="●"/>
            </a:pPr>
            <a:r>
              <a:rPr lang="en-US" sz="1800" dirty="0">
                <a:latin typeface="Arial"/>
                <a:ea typeface="Arial"/>
                <a:cs typeface="Arial"/>
                <a:sym typeface="Arial"/>
              </a:rPr>
              <a:t>Achieved an Root Mean Squared Error (RMSE): 3.0430 showing that the model can accurately estimate machine health.</a:t>
            </a:r>
            <a:endParaRPr sz="1800" dirty="0">
              <a:latin typeface="Arial"/>
              <a:ea typeface="Arial"/>
              <a:cs typeface="Arial"/>
              <a:sym typeface="Arial"/>
            </a:endParaRPr>
          </a:p>
          <a:p>
            <a:pPr marL="0" lvl="0" indent="0" algn="l" rtl="0">
              <a:lnSpc>
                <a:spcPct val="115000"/>
              </a:lnSpc>
              <a:spcBef>
                <a:spcPts val="0"/>
              </a:spcBef>
              <a:spcAft>
                <a:spcPts val="0"/>
              </a:spcAft>
              <a:buNone/>
            </a:pPr>
            <a:endParaRPr sz="1800" dirty="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7E1E2-0B1B-9D20-DCFB-6A4A6C65C2EA}"/>
              </a:ext>
            </a:extLst>
          </p:cNvPr>
          <p:cNvSpPr>
            <a:spLocks noGrp="1"/>
          </p:cNvSpPr>
          <p:nvPr>
            <p:ph type="title"/>
          </p:nvPr>
        </p:nvSpPr>
        <p:spPr>
          <a:xfrm>
            <a:off x="333495" y="544500"/>
            <a:ext cx="7704000" cy="572700"/>
          </a:xfrm>
        </p:spPr>
        <p:txBody>
          <a:bodyPr/>
          <a:lstStyle/>
          <a:p>
            <a:r>
              <a:rPr lang="en-US" sz="4000" dirty="0">
                <a:solidFill>
                  <a:schemeClr val="tx2">
                    <a:lumMod val="20000"/>
                    <a:lumOff val="80000"/>
                  </a:schemeClr>
                </a:solidFill>
              </a:rPr>
              <a:t>Rolling Window Sequence:</a:t>
            </a:r>
            <a:endParaRPr lang="en-IN" sz="4000" dirty="0">
              <a:solidFill>
                <a:schemeClr val="tx2">
                  <a:lumMod val="20000"/>
                  <a:lumOff val="80000"/>
                </a:schemeClr>
              </a:solidFill>
            </a:endParaRPr>
          </a:p>
        </p:txBody>
      </p:sp>
      <p:sp>
        <p:nvSpPr>
          <p:cNvPr id="4" name="Subtitle 3">
            <a:extLst>
              <a:ext uri="{FF2B5EF4-FFF2-40B4-BE49-F238E27FC236}">
                <a16:creationId xmlns:a16="http://schemas.microsoft.com/office/drawing/2014/main" id="{D26B20DC-0D72-FE59-9913-08D375B404FC}"/>
              </a:ext>
            </a:extLst>
          </p:cNvPr>
          <p:cNvSpPr>
            <a:spLocks noGrp="1"/>
          </p:cNvSpPr>
          <p:nvPr>
            <p:ph type="subTitle" idx="2"/>
          </p:nvPr>
        </p:nvSpPr>
        <p:spPr>
          <a:xfrm>
            <a:off x="160735" y="1117200"/>
            <a:ext cx="8290560" cy="2909100"/>
          </a:xfrm>
        </p:spPr>
        <p:txBody>
          <a:bodyPr/>
          <a:lstStyle/>
          <a:p>
            <a:r>
              <a:rPr lang="en-US" sz="2000" dirty="0">
                <a:solidFill>
                  <a:schemeClr val="bg1">
                    <a:lumMod val="10000"/>
                    <a:lumOff val="90000"/>
                  </a:schemeClr>
                </a:solidFill>
              </a:rPr>
              <a:t>• Rolling window sequences split time-series sensor data into overlapping parts to capture short-term trends.</a:t>
            </a:r>
          </a:p>
          <a:p>
            <a:r>
              <a:rPr lang="en-US" sz="2000" dirty="0">
                <a:solidFill>
                  <a:schemeClr val="bg1">
                    <a:lumMod val="10000"/>
                    <a:lumOff val="90000"/>
                  </a:schemeClr>
                </a:solidFill>
              </a:rPr>
              <a:t>• Each window (around 30 cycles) helps the LSTM model learn machine behavior over time for RUL prediction.</a:t>
            </a:r>
          </a:p>
          <a:p>
            <a:r>
              <a:rPr lang="en-US" sz="2000" dirty="0">
                <a:solidFill>
                  <a:schemeClr val="bg1">
                    <a:lumMod val="10000"/>
                    <a:lumOff val="90000"/>
                  </a:schemeClr>
                </a:solidFill>
              </a:rPr>
              <a:t>• Approximate Data Size:</a:t>
            </a:r>
          </a:p>
          <a:p>
            <a:r>
              <a:rPr lang="en-US" sz="2000" dirty="0">
                <a:solidFill>
                  <a:schemeClr val="bg1">
                    <a:lumMod val="10000"/>
                    <a:lumOff val="90000"/>
                  </a:schemeClr>
                </a:solidFill>
              </a:rPr>
              <a:t>   - Before preprocessing: ~50,000 rows (raw sensor data)</a:t>
            </a:r>
          </a:p>
          <a:p>
            <a:r>
              <a:rPr lang="en-US" sz="2000" dirty="0">
                <a:solidFill>
                  <a:schemeClr val="bg1">
                    <a:lumMod val="10000"/>
                    <a:lumOff val="90000"/>
                  </a:schemeClr>
                </a:solidFill>
              </a:rPr>
              <a:t>   - After cleaning and windowing: ~45,000 training sequences</a:t>
            </a:r>
          </a:p>
          <a:p>
            <a:r>
              <a:rPr lang="en-US" sz="2000" dirty="0">
                <a:solidFill>
                  <a:schemeClr val="bg1">
                    <a:lumMod val="10000"/>
                    <a:lumOff val="90000"/>
                  </a:schemeClr>
                </a:solidFill>
              </a:rPr>
              <a:t>• This improves model accuracy by preserving temporal relationships and reducing data noise.</a:t>
            </a:r>
          </a:p>
          <a:p>
            <a:endParaRPr lang="en-IN" dirty="0"/>
          </a:p>
        </p:txBody>
      </p:sp>
    </p:spTree>
    <p:extLst>
      <p:ext uri="{BB962C8B-B14F-4D97-AF65-F5344CB8AC3E}">
        <p14:creationId xmlns:p14="http://schemas.microsoft.com/office/powerpoint/2010/main" val="3551773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8"/>
          <p:cNvSpPr txBox="1">
            <a:spLocks noGrp="1"/>
          </p:cNvSpPr>
          <p:nvPr>
            <p:ph type="title"/>
          </p:nvPr>
        </p:nvSpPr>
        <p:spPr>
          <a:xfrm>
            <a:off x="278040" y="274599"/>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dirty="0"/>
              <a:t>User Interface :</a:t>
            </a:r>
            <a:endParaRPr sz="4000" dirty="0"/>
          </a:p>
        </p:txBody>
      </p:sp>
      <p:pic>
        <p:nvPicPr>
          <p:cNvPr id="151" name="Google Shape;151;p18"/>
          <p:cNvPicPr preferRelativeResize="0"/>
          <p:nvPr/>
        </p:nvPicPr>
        <p:blipFill rotWithShape="1">
          <a:blip r:embed="rId3">
            <a:alphaModFix/>
          </a:blip>
          <a:srcRect t="11816"/>
          <a:stretch/>
        </p:blipFill>
        <p:spPr>
          <a:xfrm>
            <a:off x="3971544" y="686419"/>
            <a:ext cx="5073396" cy="4117731"/>
          </a:xfrm>
          <a:prstGeom prst="rect">
            <a:avLst/>
          </a:prstGeom>
          <a:noFill/>
          <a:ln>
            <a:noFill/>
          </a:ln>
        </p:spPr>
      </p:pic>
      <p:sp>
        <p:nvSpPr>
          <p:cNvPr id="3" name="TextBox 2">
            <a:extLst>
              <a:ext uri="{FF2B5EF4-FFF2-40B4-BE49-F238E27FC236}">
                <a16:creationId xmlns:a16="http://schemas.microsoft.com/office/drawing/2014/main" id="{78B3C850-E273-61A7-0D3D-2F2501BE2309}"/>
              </a:ext>
            </a:extLst>
          </p:cNvPr>
          <p:cNvSpPr txBox="1"/>
          <p:nvPr/>
        </p:nvSpPr>
        <p:spPr>
          <a:xfrm>
            <a:off x="278040" y="1221631"/>
            <a:ext cx="3493860" cy="3360920"/>
          </a:xfrm>
          <a:prstGeom prst="rect">
            <a:avLst/>
          </a:prstGeom>
          <a:noFill/>
        </p:spPr>
        <p:txBody>
          <a:bodyPr wrap="square" rtlCol="0">
            <a:spAutoFit/>
          </a:bodyPr>
          <a:lstStyle/>
          <a:p>
            <a:pPr marL="228600" lvl="0" indent="-190500" algn="just">
              <a:lnSpc>
                <a:spcPct val="90000"/>
              </a:lnSpc>
              <a:buClr>
                <a:schemeClr val="dk1"/>
              </a:buClr>
              <a:buSzPts val="1800"/>
              <a:buFont typeface="Arial"/>
              <a:buChar char="•"/>
            </a:pPr>
            <a:r>
              <a:rPr lang="en-US" sz="1600" dirty="0">
                <a:solidFill>
                  <a:schemeClr val="bg2">
                    <a:lumMod val="20000"/>
                    <a:lumOff val="80000"/>
                  </a:schemeClr>
                </a:solidFill>
              </a:rPr>
              <a:t>Built  a </a:t>
            </a:r>
            <a:r>
              <a:rPr lang="en-IN" sz="1600" b="1" dirty="0">
                <a:solidFill>
                  <a:schemeClr val="bg2">
                    <a:lumMod val="20000"/>
                    <a:lumOff val="80000"/>
                  </a:schemeClr>
                </a:solidFill>
              </a:rPr>
              <a:t> </a:t>
            </a:r>
            <a:r>
              <a:rPr lang="en-IN" sz="1600" b="1" dirty="0" err="1">
                <a:solidFill>
                  <a:schemeClr val="bg2">
                    <a:lumMod val="20000"/>
                    <a:lumOff val="80000"/>
                  </a:schemeClr>
                </a:solidFill>
              </a:rPr>
              <a:t>Streamlit</a:t>
            </a:r>
            <a:r>
              <a:rPr lang="en-IN" sz="1600" b="1" dirty="0">
                <a:solidFill>
                  <a:schemeClr val="bg2">
                    <a:lumMod val="20000"/>
                    <a:lumOff val="80000"/>
                  </a:schemeClr>
                </a:solidFill>
              </a:rPr>
              <a:t>-based dashboard </a:t>
            </a:r>
            <a:r>
              <a:rPr lang="en-US" sz="1600" dirty="0">
                <a:solidFill>
                  <a:schemeClr val="bg2">
                    <a:lumMod val="20000"/>
                    <a:lumOff val="80000"/>
                  </a:schemeClr>
                </a:solidFill>
              </a:rPr>
              <a:t>allowing users to </a:t>
            </a:r>
            <a:br>
              <a:rPr lang="en-US" sz="1600" dirty="0">
                <a:solidFill>
                  <a:schemeClr val="bg2">
                    <a:lumMod val="20000"/>
                    <a:lumOff val="80000"/>
                  </a:schemeClr>
                </a:solidFill>
              </a:rPr>
            </a:br>
            <a:r>
              <a:rPr lang="en-US" sz="1600" dirty="0">
                <a:solidFill>
                  <a:schemeClr val="bg2">
                    <a:lumMod val="20000"/>
                    <a:lumOff val="80000"/>
                  </a:schemeClr>
                </a:solidFill>
              </a:rPr>
              <a:t>upload sensor data and visualize predicted </a:t>
            </a:r>
            <a:br>
              <a:rPr lang="en-US" sz="1600" dirty="0">
                <a:solidFill>
                  <a:schemeClr val="bg2">
                    <a:lumMod val="20000"/>
                    <a:lumOff val="80000"/>
                  </a:schemeClr>
                </a:solidFill>
              </a:rPr>
            </a:br>
            <a:r>
              <a:rPr lang="en-US" sz="1600" dirty="0">
                <a:solidFill>
                  <a:schemeClr val="bg2">
                    <a:lumMod val="20000"/>
                    <a:lumOff val="80000"/>
                  </a:schemeClr>
                </a:solidFill>
              </a:rPr>
              <a:t>RUL.</a:t>
            </a:r>
          </a:p>
          <a:p>
            <a:pPr marL="228600" lvl="0" indent="-190500" algn="just">
              <a:lnSpc>
                <a:spcPct val="90000"/>
              </a:lnSpc>
              <a:spcBef>
                <a:spcPts val="1200"/>
              </a:spcBef>
              <a:buClr>
                <a:schemeClr val="dk1"/>
              </a:buClr>
              <a:buSzPts val="1800"/>
              <a:buFont typeface="Arial"/>
              <a:buChar char="•"/>
            </a:pPr>
            <a:r>
              <a:rPr lang="en-US" sz="1600" dirty="0">
                <a:solidFill>
                  <a:schemeClr val="bg2">
                    <a:lumMod val="20000"/>
                    <a:lumOff val="80000"/>
                  </a:schemeClr>
                </a:solidFill>
              </a:rPr>
              <a:t>UI features:</a:t>
            </a:r>
          </a:p>
          <a:p>
            <a:pPr marL="411480" lvl="1" indent="-228600" algn="just">
              <a:lnSpc>
                <a:spcPct val="90000"/>
              </a:lnSpc>
              <a:spcBef>
                <a:spcPts val="1200"/>
              </a:spcBef>
              <a:buClr>
                <a:schemeClr val="dk1"/>
              </a:buClr>
              <a:buSzPts val="1800"/>
              <a:buFont typeface="Arial"/>
              <a:buChar char="•"/>
            </a:pPr>
            <a:r>
              <a:rPr lang="en-US" sz="1600" dirty="0">
                <a:solidFill>
                  <a:schemeClr val="bg2">
                    <a:lumMod val="20000"/>
                    <a:lumOff val="80000"/>
                  </a:schemeClr>
                </a:solidFill>
              </a:rPr>
              <a:t>Data upload form</a:t>
            </a:r>
          </a:p>
          <a:p>
            <a:pPr marL="411480" lvl="1" indent="-228600" algn="just">
              <a:lnSpc>
                <a:spcPct val="90000"/>
              </a:lnSpc>
              <a:spcBef>
                <a:spcPts val="1200"/>
              </a:spcBef>
              <a:buClr>
                <a:schemeClr val="dk1"/>
              </a:buClr>
              <a:buSzPts val="1800"/>
              <a:buFont typeface="Arial"/>
              <a:buChar char="•"/>
            </a:pPr>
            <a:r>
              <a:rPr lang="en-US" sz="1600" dirty="0">
                <a:solidFill>
                  <a:schemeClr val="bg2">
                    <a:lumMod val="20000"/>
                    <a:lumOff val="80000"/>
                  </a:schemeClr>
                </a:solidFill>
              </a:rPr>
              <a:t>Real-time RUL prediction output</a:t>
            </a:r>
          </a:p>
          <a:p>
            <a:pPr marL="411480" lvl="1" indent="-228600" algn="just">
              <a:lnSpc>
                <a:spcPct val="90000"/>
              </a:lnSpc>
              <a:spcBef>
                <a:spcPts val="1200"/>
              </a:spcBef>
              <a:buClr>
                <a:schemeClr val="dk1"/>
              </a:buClr>
              <a:buSzPts val="1800"/>
              <a:buFont typeface="Arial"/>
              <a:buChar char="•"/>
            </a:pPr>
            <a:r>
              <a:rPr lang="en-US" sz="1600" dirty="0">
                <a:solidFill>
                  <a:schemeClr val="bg2">
                    <a:lumMod val="20000"/>
                    <a:lumOff val="80000"/>
                  </a:schemeClr>
                </a:solidFill>
              </a:rPr>
              <a:t>Graphs comparing actual vs predicted </a:t>
            </a:r>
            <a:br>
              <a:rPr lang="en-US" sz="1600" dirty="0">
                <a:solidFill>
                  <a:schemeClr val="bg2">
                    <a:lumMod val="20000"/>
                    <a:lumOff val="80000"/>
                  </a:schemeClr>
                </a:solidFill>
              </a:rPr>
            </a:br>
            <a:r>
              <a:rPr lang="en-US" sz="1600" dirty="0">
                <a:solidFill>
                  <a:schemeClr val="bg2">
                    <a:lumMod val="20000"/>
                    <a:lumOff val="80000"/>
                  </a:schemeClr>
                </a:solidFill>
              </a:rPr>
              <a:t>RUL</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A86D-551E-967E-02A3-2F85D003EB42}"/>
              </a:ext>
            </a:extLst>
          </p:cNvPr>
          <p:cNvSpPr>
            <a:spLocks noGrp="1"/>
          </p:cNvSpPr>
          <p:nvPr>
            <p:ph type="title"/>
          </p:nvPr>
        </p:nvSpPr>
        <p:spPr>
          <a:xfrm>
            <a:off x="337862" y="271502"/>
            <a:ext cx="7704000" cy="572700"/>
          </a:xfrm>
        </p:spPr>
        <p:txBody>
          <a:bodyPr/>
          <a:lstStyle/>
          <a:p>
            <a:r>
              <a:rPr lang="en-US" sz="4400" dirty="0"/>
              <a:t>Output Summary:</a:t>
            </a:r>
            <a:br>
              <a:rPr lang="en-US" dirty="0"/>
            </a:br>
            <a:endParaRPr lang="en-IN" dirty="0"/>
          </a:p>
        </p:txBody>
      </p:sp>
      <p:sp>
        <p:nvSpPr>
          <p:cNvPr id="4" name="Subtitle 3">
            <a:extLst>
              <a:ext uri="{FF2B5EF4-FFF2-40B4-BE49-F238E27FC236}">
                <a16:creationId xmlns:a16="http://schemas.microsoft.com/office/drawing/2014/main" id="{A1F57336-0841-7A71-A28A-B475D993282B}"/>
              </a:ext>
            </a:extLst>
          </p:cNvPr>
          <p:cNvSpPr>
            <a:spLocks noGrp="1"/>
          </p:cNvSpPr>
          <p:nvPr>
            <p:ph type="subTitle" idx="2"/>
          </p:nvPr>
        </p:nvSpPr>
        <p:spPr>
          <a:xfrm>
            <a:off x="337862" y="1132765"/>
            <a:ext cx="8667168" cy="3439236"/>
          </a:xfrm>
        </p:spPr>
        <p:txBody>
          <a:bodyPr/>
          <a:lstStyle/>
          <a:p>
            <a:r>
              <a:rPr lang="en-US" sz="1600" dirty="0">
                <a:solidFill>
                  <a:schemeClr val="bg2">
                    <a:lumMod val="40000"/>
                    <a:lumOff val="60000"/>
                  </a:schemeClr>
                </a:solidFill>
              </a:rPr>
              <a:t>• The CMAPSS dataset was used, containing data from 100 engines across multiple operational cycles.</a:t>
            </a:r>
          </a:p>
          <a:p>
            <a:r>
              <a:rPr lang="en-US" sz="1600" dirty="0">
                <a:solidFill>
                  <a:schemeClr val="bg2">
                    <a:lumMod val="40000"/>
                    <a:lumOff val="60000"/>
                  </a:schemeClr>
                </a:solidFill>
              </a:rPr>
              <a:t>• The LSTM model effectively predicted the Remaining Useful Life (RUL) for each engine based on sensor readings.</a:t>
            </a:r>
          </a:p>
          <a:p>
            <a:r>
              <a:rPr lang="en-US" sz="1600" dirty="0">
                <a:solidFill>
                  <a:schemeClr val="bg2">
                    <a:lumMod val="40000"/>
                    <a:lumOff val="60000"/>
                  </a:schemeClr>
                </a:solidFill>
              </a:rPr>
              <a:t>• Evaluation metrics:</a:t>
            </a:r>
          </a:p>
          <a:p>
            <a:r>
              <a:rPr lang="en-US" sz="1600" dirty="0">
                <a:solidFill>
                  <a:schemeClr val="bg2">
                    <a:lumMod val="40000"/>
                    <a:lumOff val="60000"/>
                  </a:schemeClr>
                </a:solidFill>
              </a:rPr>
              <a:t>   </a:t>
            </a:r>
            <a:r>
              <a:rPr lang="en-US" sz="1600">
                <a:solidFill>
                  <a:schemeClr val="bg2">
                    <a:lumMod val="40000"/>
                    <a:lumOff val="60000"/>
                  </a:schemeClr>
                </a:solidFill>
              </a:rPr>
              <a:t>- Root Mean Squared Error (RMSE): 3.0430(</a:t>
            </a:r>
            <a:r>
              <a:rPr lang="en-US" sz="1600" dirty="0">
                <a:solidFill>
                  <a:schemeClr val="bg2">
                    <a:lumMod val="40000"/>
                    <a:lumOff val="60000"/>
                  </a:schemeClr>
                </a:solidFill>
              </a:rPr>
              <a:t>indicating strong predictive performance).</a:t>
            </a:r>
          </a:p>
          <a:p>
            <a:r>
              <a:rPr lang="en-US" sz="1600" dirty="0"/>
              <a:t>  .</a:t>
            </a:r>
            <a:r>
              <a:rPr lang="en-US" sz="1600" dirty="0">
                <a:solidFill>
                  <a:schemeClr val="tx2">
                    <a:lumMod val="20000"/>
                    <a:lumOff val="80000"/>
                  </a:schemeClr>
                </a:solidFill>
              </a:rPr>
              <a:t>Model shows strong correlation between predicted and actual RUL.</a:t>
            </a:r>
          </a:p>
          <a:p>
            <a:r>
              <a:rPr lang="en-US" sz="1600" dirty="0">
                <a:solidFill>
                  <a:schemeClr val="bg2">
                    <a:lumMod val="40000"/>
                    <a:lumOff val="60000"/>
                  </a:schemeClr>
                </a:solidFill>
              </a:rPr>
              <a:t>• Visualization dashboard displays real-time RUL predictions and engine performance trends.</a:t>
            </a:r>
          </a:p>
          <a:p>
            <a:r>
              <a:rPr lang="en-US" sz="1600" dirty="0">
                <a:solidFill>
                  <a:schemeClr val="bg2">
                    <a:lumMod val="40000"/>
                    <a:lumOff val="60000"/>
                  </a:schemeClr>
                </a:solidFill>
              </a:rPr>
              <a:t>• Output examples include:</a:t>
            </a:r>
          </a:p>
          <a:p>
            <a:r>
              <a:rPr lang="en-US" sz="1600" dirty="0">
                <a:solidFill>
                  <a:schemeClr val="bg2">
                    <a:lumMod val="40000"/>
                    <a:lumOff val="60000"/>
                  </a:schemeClr>
                </a:solidFill>
              </a:rPr>
              <a:t>   - Predicted RUL curve vs. actual RUL.</a:t>
            </a:r>
          </a:p>
          <a:p>
            <a:r>
              <a:rPr lang="en-US" sz="1600" dirty="0">
                <a:solidFill>
                  <a:schemeClr val="bg2">
                    <a:lumMod val="40000"/>
                    <a:lumOff val="60000"/>
                  </a:schemeClr>
                </a:solidFill>
              </a:rPr>
              <a:t>   - Maintenance alert zones for early fault detection.</a:t>
            </a:r>
          </a:p>
          <a:p>
            <a:r>
              <a:rPr lang="en-US" sz="1600" dirty="0">
                <a:solidFill>
                  <a:schemeClr val="bg2">
                    <a:lumMod val="40000"/>
                    <a:lumOff val="60000"/>
                  </a:schemeClr>
                </a:solidFill>
              </a:rPr>
              <a:t>• The model supports scalability for turbines, pumps, and motors</a:t>
            </a:r>
            <a:r>
              <a:rPr lang="en-US" dirty="0">
                <a:solidFill>
                  <a:schemeClr val="bg2">
                    <a:lumMod val="40000"/>
                    <a:lumOff val="60000"/>
                  </a:schemeClr>
                </a:solidFill>
              </a:rPr>
              <a:t>.</a:t>
            </a:r>
            <a:endParaRPr lang="en-IN" dirty="0">
              <a:solidFill>
                <a:schemeClr val="bg2">
                  <a:lumMod val="40000"/>
                  <a:lumOff val="60000"/>
                </a:schemeClr>
              </a:solidFill>
            </a:endParaRPr>
          </a:p>
        </p:txBody>
      </p:sp>
    </p:spTree>
    <p:extLst>
      <p:ext uri="{BB962C8B-B14F-4D97-AF65-F5344CB8AC3E}">
        <p14:creationId xmlns:p14="http://schemas.microsoft.com/office/powerpoint/2010/main" val="4213743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Output :</a:t>
            </a:r>
            <a:endParaRPr sz="4000"/>
          </a:p>
        </p:txBody>
      </p:sp>
      <p:pic>
        <p:nvPicPr>
          <p:cNvPr id="157" name="Google Shape;157;p19"/>
          <p:cNvPicPr preferRelativeResize="0">
            <a:picLocks noGrp="1"/>
          </p:cNvPicPr>
          <p:nvPr>
            <p:ph type="body" idx="4294967295"/>
          </p:nvPr>
        </p:nvPicPr>
        <p:blipFill rotWithShape="1">
          <a:blip r:embed="rId3">
            <a:alphaModFix/>
          </a:blip>
          <a:srcRect/>
          <a:stretch/>
        </p:blipFill>
        <p:spPr>
          <a:xfrm>
            <a:off x="4870704" y="1401857"/>
            <a:ext cx="4504944" cy="3279933"/>
          </a:xfrm>
          <a:prstGeom prst="rect">
            <a:avLst/>
          </a:prstGeom>
          <a:noFill/>
          <a:ln>
            <a:noFill/>
          </a:ln>
        </p:spPr>
      </p:pic>
      <p:pic>
        <p:nvPicPr>
          <p:cNvPr id="2" name="Picture 1">
            <a:extLst>
              <a:ext uri="{FF2B5EF4-FFF2-40B4-BE49-F238E27FC236}">
                <a16:creationId xmlns:a16="http://schemas.microsoft.com/office/drawing/2014/main" id="{54F3FD34-C90F-4EA0-1D84-170053004A47}"/>
              </a:ext>
            </a:extLst>
          </p:cNvPr>
          <p:cNvPicPr>
            <a:picLocks noChangeAspect="1"/>
          </p:cNvPicPr>
          <p:nvPr/>
        </p:nvPicPr>
        <p:blipFill>
          <a:blip r:embed="rId4"/>
          <a:stretch>
            <a:fillRect/>
          </a:stretch>
        </p:blipFill>
        <p:spPr>
          <a:xfrm>
            <a:off x="371856" y="1401859"/>
            <a:ext cx="4340352" cy="32799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Future Work :</a:t>
            </a:r>
            <a:endParaRPr sz="4000"/>
          </a:p>
        </p:txBody>
      </p:sp>
      <p:sp>
        <p:nvSpPr>
          <p:cNvPr id="163" name="Google Shape;163;p20"/>
          <p:cNvSpPr txBox="1">
            <a:spLocks noGrp="1"/>
          </p:cNvSpPr>
          <p:nvPr>
            <p:ph type="subTitle" idx="2"/>
          </p:nvPr>
        </p:nvSpPr>
        <p:spPr>
          <a:xfrm>
            <a:off x="614903" y="1329879"/>
            <a:ext cx="5995200" cy="2187300"/>
          </a:xfrm>
          <a:prstGeom prst="rect">
            <a:avLst/>
          </a:prstGeom>
          <a:noFill/>
          <a:ln>
            <a:noFill/>
          </a:ln>
        </p:spPr>
        <p:txBody>
          <a:bodyPr spcFirstLastPara="1" wrap="square" lIns="91425" tIns="91425" rIns="91425" bIns="91425" anchor="t" anchorCtr="0">
            <a:noAutofit/>
          </a:bodyPr>
          <a:lstStyle/>
          <a:p>
            <a:pPr marL="139700" lvl="0" indent="0" algn="just" rtl="0">
              <a:lnSpc>
                <a:spcPct val="115000"/>
              </a:lnSpc>
              <a:spcBef>
                <a:spcPts val="0"/>
              </a:spcBef>
              <a:spcAft>
                <a:spcPts val="0"/>
              </a:spcAft>
              <a:buSzPts val="1400"/>
              <a:buNone/>
            </a:pPr>
            <a:r>
              <a:rPr lang="en-US" sz="1800">
                <a:latin typeface="Arial"/>
                <a:ea typeface="Arial"/>
                <a:cs typeface="Arial"/>
                <a:sym typeface="Arial"/>
              </a:rPr>
              <a:t>Expected outcomes include accurate </a:t>
            </a:r>
            <a:r>
              <a:rPr lang="en-US" sz="1800" b="1">
                <a:latin typeface="Arial"/>
                <a:ea typeface="Arial"/>
                <a:cs typeface="Arial"/>
                <a:sym typeface="Arial"/>
              </a:rPr>
              <a:t>RUL predictions</a:t>
            </a:r>
            <a:r>
              <a:rPr lang="en-US" sz="1800">
                <a:latin typeface="Arial"/>
                <a:ea typeface="Arial"/>
                <a:cs typeface="Arial"/>
                <a:sym typeface="Arial"/>
              </a:rPr>
              <a:t> and visual dashboards for </a:t>
            </a:r>
            <a:r>
              <a:rPr lang="en-US" sz="1800" b="1">
                <a:latin typeface="Arial"/>
                <a:ea typeface="Arial"/>
                <a:cs typeface="Arial"/>
                <a:sym typeface="Arial"/>
              </a:rPr>
              <a:t>maintenance alerts.</a:t>
            </a:r>
            <a:r>
              <a:rPr lang="en-US" sz="1800">
                <a:latin typeface="Arial"/>
                <a:ea typeface="Arial"/>
                <a:cs typeface="Arial"/>
                <a:sym typeface="Arial"/>
              </a:rPr>
              <a:t> Future work involves integrating real-time IOT sensor data, enhancing model interpretability, and deploying the system in industrial environments.</a:t>
            </a:r>
            <a:endParaRPr sz="18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t>Conclusion</a:t>
            </a:r>
            <a:endParaRPr/>
          </a:p>
        </p:txBody>
      </p:sp>
      <p:sp>
        <p:nvSpPr>
          <p:cNvPr id="169" name="Google Shape;169;p21"/>
          <p:cNvSpPr txBox="1">
            <a:spLocks noGrp="1"/>
          </p:cNvSpPr>
          <p:nvPr>
            <p:ph type="subTitle" idx="2"/>
          </p:nvPr>
        </p:nvSpPr>
        <p:spPr>
          <a:xfrm>
            <a:off x="555832" y="1357304"/>
            <a:ext cx="5995200" cy="2187300"/>
          </a:xfrm>
          <a:prstGeom prst="rect">
            <a:avLst/>
          </a:prstGeom>
          <a:noFill/>
          <a:ln>
            <a:noFill/>
          </a:ln>
        </p:spPr>
        <p:txBody>
          <a:bodyPr spcFirstLastPara="1" wrap="square" lIns="91425" tIns="91425" rIns="91425" bIns="91425" anchor="t" anchorCtr="0">
            <a:noAutofit/>
          </a:bodyPr>
          <a:lstStyle/>
          <a:p>
            <a:pPr marL="139700" lvl="0" indent="0" algn="just" rtl="0">
              <a:lnSpc>
                <a:spcPct val="115000"/>
              </a:lnSpc>
              <a:spcBef>
                <a:spcPts val="0"/>
              </a:spcBef>
              <a:spcAft>
                <a:spcPts val="0"/>
              </a:spcAft>
              <a:buSzPts val="1400"/>
              <a:buNone/>
            </a:pPr>
            <a:r>
              <a:rPr lang="en-US" sz="1800">
                <a:latin typeface="Arial"/>
                <a:ea typeface="Arial"/>
                <a:cs typeface="Arial"/>
                <a:sym typeface="Arial"/>
              </a:rPr>
              <a:t>PrognosAI demonstrates how AI and deep learning can revolutionize industrial maintenance. By predicting equipment failures ahead of time, it reduces downtime, improves safety, and increases productivity. The project lays the foundation for smart, data-driven asset management.</a:t>
            </a:r>
            <a:endParaRPr sz="18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2"/>
          <p:cNvSpPr txBox="1">
            <a:spLocks noGrp="1"/>
          </p:cNvSpPr>
          <p:nvPr>
            <p:ph type="ctrTitle"/>
          </p:nvPr>
        </p:nvSpPr>
        <p:spPr>
          <a:xfrm>
            <a:off x="-460650" y="1314150"/>
            <a:ext cx="10065300" cy="222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name="Seminar in Comparative History - Master of Arts in History by Slidesgo">
  <a:themeElements>
    <a:clrScheme name="Simple Light">
      <a:dk1>
        <a:srgbClr val="FFFFFF"/>
      </a:dk1>
      <a:lt1>
        <a:srgbClr val="252F35"/>
      </a:lt1>
      <a:dk2>
        <a:srgbClr val="D8AB82"/>
      </a:dk2>
      <a:lt2>
        <a:srgbClr val="F2780B"/>
      </a:lt2>
      <a:accent1>
        <a:srgbClr val="8C2C09"/>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TotalTime>
  <Words>708</Words>
  <Application>Microsoft Office PowerPoint</Application>
  <PresentationFormat>On-screen Show (16:9)</PresentationFormat>
  <Paragraphs>64</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Abhaya Libre</vt:lpstr>
      <vt:lpstr>Actor</vt:lpstr>
      <vt:lpstr>Seminar in Comparative History - Master of Arts in History by Slidesgo</vt:lpstr>
      <vt:lpstr>PrognosAI: AI-Driven Predictive Maintenance System Using Time-Series Sensor Data</vt:lpstr>
      <vt:lpstr>Introduction</vt:lpstr>
      <vt:lpstr>Motivation</vt:lpstr>
      <vt:lpstr>Objectives</vt:lpstr>
      <vt:lpstr>Project Workflow :</vt:lpstr>
      <vt:lpstr>Tech Stack :</vt:lpstr>
      <vt:lpstr>Model Training and Evaluation:</vt:lpstr>
      <vt:lpstr>Rolling Window Sequence:</vt:lpstr>
      <vt:lpstr>User Interface :</vt:lpstr>
      <vt:lpstr>Output Summary: </vt:lpstr>
      <vt:lpstr>Output :</vt:lpstr>
      <vt:lpstr>Future Work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HUSNA MAHEEN</dc:creator>
  <cp:lastModifiedBy>S HUSNA MAHEEN</cp:lastModifiedBy>
  <cp:revision>5</cp:revision>
  <dcterms:modified xsi:type="dcterms:W3CDTF">2025-10-21T10:41:03Z</dcterms:modified>
</cp:coreProperties>
</file>